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81"/>
  </p:normalViewPr>
  <p:slideViewPr>
    <p:cSldViewPr snapToGrid="0">
      <p:cViewPr varScale="1">
        <p:scale>
          <a:sx n="92" d="100"/>
          <a:sy n="92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8DC272A-50B0-41F3-9916-3C5771D2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EA00315-1608-4D75-A2A2-CE739069C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693E9EC-5D4F-4163-8052-2520B11D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78E5225-C47B-482A-9409-820FA3A28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51B98E7-0F54-439A-9071-430916987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0AB1271-3D77-4746-BCC4-48F472A2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9D62971-6CCE-4EAD-968F-67F461C84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D159557-C849-4A80-9EEC-EC60F09EEE0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EB7ADB5-8C95-4497-A829-2FB14654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525857-13B1-49E3-A4BE-1E77941BC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ard.kbcard.com/CRD/DVIEW/HCAMCXPRICAC0076?cooperationcode=09923&amp;mainCC=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03.06268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github.com/monologg/KoELECTRA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rxiv.org/abs/2003.10555" TargetMode="External"/><Relationship Id="rId11" Type="http://schemas.openxmlformats.org/officeDocument/2006/relationships/hyperlink" Target="https://github.com/chakki-works/seqeval" TargetMode="External"/><Relationship Id="rId5" Type="http://schemas.openxmlformats.org/officeDocument/2006/relationships/hyperlink" Target="https://card.kbcard.com/CRD/DVIEW/HCAMCXPRICAC0076?cooperationcode=09923&amp;mainCC=a" TargetMode="External"/><Relationship Id="rId10" Type="http://schemas.openxmlformats.org/officeDocument/2006/relationships/hyperlink" Target="https://huggingface.co/docs/transformers/tasks/token_classification" TargetMode="External"/><Relationship Id="rId4" Type="http://schemas.openxmlformats.org/officeDocument/2006/relationships/image" Target="../media/image20.png"/><Relationship Id="rId9" Type="http://schemas.openxmlformats.org/officeDocument/2006/relationships/hyperlink" Target="https://aws.amazon.com/blogs/machine-learning/bring-structure-to-diverse-documents-with-amazon-textract-and-transformer-based-models-on-amazon-sagemak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-text-1">
            <a:extLst>
              <a:ext uri="{FF2B5EF4-FFF2-40B4-BE49-F238E27FC236}">
                <a16:creationId xmlns:a16="http://schemas.microsoft.com/office/drawing/2014/main" id="{FEE2AAF0-9BF1-45BD-8178-361BC0884C29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2186583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4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2026 AI P-실무프로젝트 </a:t>
            </a:r>
          </a:p>
        </p:txBody>
      </p:sp>
      <p:sp>
        <p:nvSpPr>
          <p:cNvPr id="3" name="html-2-border">
            <a:extLst>
              <a:ext uri="{FF2B5EF4-FFF2-40B4-BE49-F238E27FC236}">
                <a16:creationId xmlns:a16="http://schemas.microsoft.com/office/drawing/2014/main" id="{75D91007-5991-438C-9B83-116E94D0FAD4}"/>
              </a:ext>
            </a:extLst>
          </p:cNvPr>
          <p:cNvSpPr>
            <a:spLocks noGrp="1"/>
          </p:cNvSpPr>
          <p:nvPr/>
        </p:nvSpPr>
        <p:spPr>
          <a:xfrm>
            <a:off x="2872383" y="666750"/>
            <a:ext cx="9525" cy="228600"/>
          </a:xfrm>
          <a:prstGeom prst="rect">
            <a:avLst/>
          </a:prstGeom>
          <a:solidFill>
            <a:srgbClr val="CBD1E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17B30EB1-3762-46DB-9556-11B0D34925DD}"/>
              </a:ext>
            </a:extLst>
          </p:cNvPr>
          <p:cNvSpPr>
            <a:spLocks noGrp="1"/>
          </p:cNvSpPr>
          <p:nvPr/>
        </p:nvSpPr>
        <p:spPr>
          <a:xfrm>
            <a:off x="3034308" y="647700"/>
            <a:ext cx="834479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45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사전발표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3E235C-7FE2-4861-AB6D-9E1D14A51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28552" y="1492480"/>
            <a:ext cx="9925648" cy="5587539"/>
          </a:xfrm>
          <a:prstGeom prst="rect">
            <a:avLst/>
          </a:prstGeom>
        </p:spPr>
      </p:pic>
      <p:sp>
        <p:nvSpPr>
          <p:cNvPr id="6" name="html-text-5">
            <a:extLst>
              <a:ext uri="{FF2B5EF4-FFF2-40B4-BE49-F238E27FC236}">
                <a16:creationId xmlns:a16="http://schemas.microsoft.com/office/drawing/2014/main" id="{9689B7B8-6F18-42CA-A922-F550B8C737D8}"/>
              </a:ext>
            </a:extLst>
          </p:cNvPr>
          <p:cNvSpPr>
            <a:spLocks noGrp="1"/>
          </p:cNvSpPr>
          <p:nvPr/>
        </p:nvSpPr>
        <p:spPr>
          <a:xfrm>
            <a:off x="692199" y="1705247"/>
            <a:ext cx="2606129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1" i="0" spc="0" dirty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카드 상품 시장조사를 위한</a:t>
            </a:r>
          </a:p>
        </p:txBody>
      </p:sp>
      <p:sp>
        <p:nvSpPr>
          <p:cNvPr id="7" name="html-text-6">
            <a:extLst>
              <a:ext uri="{FF2B5EF4-FFF2-40B4-BE49-F238E27FC236}">
                <a16:creationId xmlns:a16="http://schemas.microsoft.com/office/drawing/2014/main" id="{F3EFE2FD-4BFA-4976-9978-C5E721B3BD58}"/>
              </a:ext>
            </a:extLst>
          </p:cNvPr>
          <p:cNvSpPr>
            <a:spLocks noGrp="1"/>
          </p:cNvSpPr>
          <p:nvPr/>
        </p:nvSpPr>
        <p:spPr>
          <a:xfrm>
            <a:off x="685800" y="2681470"/>
            <a:ext cx="3961507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5625" b="1" i="0" spc="-270" dirty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혜택 조건 추출</a:t>
            </a: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592DDEC6-8D96-4D40-9BB0-9F567C0AC8CA}"/>
              </a:ext>
            </a:extLst>
          </p:cNvPr>
          <p:cNvSpPr>
            <a:spLocks noGrp="1"/>
          </p:cNvSpPr>
          <p:nvPr/>
        </p:nvSpPr>
        <p:spPr>
          <a:xfrm>
            <a:off x="685800" y="3597592"/>
            <a:ext cx="2210544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5625" b="1" i="0" spc="-27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5625" b="1" i="0" spc="-270" dirty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및 비교 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26161CA3-17EB-4039-9D75-958CB3878DDC}"/>
              </a:ext>
            </a:extLst>
          </p:cNvPr>
          <p:cNvSpPr>
            <a:spLocks noGrp="1"/>
          </p:cNvSpPr>
          <p:nvPr/>
        </p:nvSpPr>
        <p:spPr>
          <a:xfrm>
            <a:off x="2779514" y="3597591"/>
            <a:ext cx="757535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5625" b="1" i="0" spc="-27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5625" b="1" i="0" spc="-270" dirty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AI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2BB26B3B-6615-4118-A79F-AF6C7A7D8663}"/>
              </a:ext>
            </a:extLst>
          </p:cNvPr>
          <p:cNvSpPr>
            <a:spLocks noGrp="1"/>
          </p:cNvSpPr>
          <p:nvPr/>
        </p:nvSpPr>
        <p:spPr>
          <a:xfrm>
            <a:off x="685800" y="4890620"/>
            <a:ext cx="255805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0" i="0" spc="-45" dirty="0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rPr>
              <a:t>공식 자료의 조건을 찾고,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ECE93800-4A63-49F8-BF5E-8D127B1B7D4B}"/>
              </a:ext>
            </a:extLst>
          </p:cNvPr>
          <p:cNvSpPr>
            <a:spLocks noGrp="1"/>
          </p:cNvSpPr>
          <p:nvPr/>
        </p:nvSpPr>
        <p:spPr>
          <a:xfrm>
            <a:off x="685800" y="5304331"/>
            <a:ext cx="385851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0" i="0" spc="-45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0" i="0" spc="-45" dirty="0">
                <a:solidFill>
                  <a:srgbClr val="505D77"/>
                </a:solidFill>
                <a:latin typeface="Apple SD Gothic Neo"/>
                <a:ea typeface="Apple SD Gothic Neo"/>
                <a:cs typeface="Apple SD Gothic Neo"/>
              </a:rPr>
              <a:t>원문을 확인하며 비교표를 작성합니다.</a:t>
            </a:r>
          </a:p>
        </p:txBody>
      </p:sp>
      <p:sp>
        <p:nvSpPr>
          <p:cNvPr id="12" name="html-11-border">
            <a:extLst>
              <a:ext uri="{FF2B5EF4-FFF2-40B4-BE49-F238E27FC236}">
                <a16:creationId xmlns:a16="http://schemas.microsoft.com/office/drawing/2014/main" id="{79E0E6DD-C62E-42C0-95E9-80EFDAA768BB}"/>
              </a:ext>
            </a:extLst>
          </p:cNvPr>
          <p:cNvSpPr>
            <a:spLocks noGrp="1"/>
          </p:cNvSpPr>
          <p:nvPr/>
        </p:nvSpPr>
        <p:spPr>
          <a:xfrm>
            <a:off x="672108" y="5876248"/>
            <a:ext cx="5143500" cy="1905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7951BEC1-01DD-4D6B-8EEF-9A2C39582EBE}"/>
              </a:ext>
            </a:extLst>
          </p:cNvPr>
          <p:cNvSpPr>
            <a:spLocks noGrp="1"/>
          </p:cNvSpPr>
          <p:nvPr/>
        </p:nvSpPr>
        <p:spPr>
          <a:xfrm>
            <a:off x="692199" y="6220453"/>
            <a:ext cx="148723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 dirty="0" err="1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카드봐줘체리</a:t>
            </a:r>
            <a:endParaRPr lang="ko-KR" sz="2025" b="1" i="0" spc="0" dirty="0">
              <a:solidFill>
                <a:srgbClr val="011B9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1BB7AC6C-464B-4AA3-9C0E-530DDD4E784D}"/>
              </a:ext>
            </a:extLst>
          </p:cNvPr>
          <p:cNvSpPr>
            <a:spLocks noGrp="1"/>
          </p:cNvSpPr>
          <p:nvPr/>
        </p:nvSpPr>
        <p:spPr>
          <a:xfrm>
            <a:off x="685800" y="6736372"/>
            <a:ext cx="2603599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00" b="0" i="0" spc="0" dirty="0">
                <a:solidFill>
                  <a:schemeClr val="tx1"/>
                </a:solidFill>
                <a:latin typeface="Apple SD Gothic Neo"/>
                <a:ea typeface="Apple SD Gothic Neo"/>
                <a:cs typeface="Apple SD Gothic Neo"/>
              </a:rPr>
              <a:t>박</a:t>
            </a:r>
            <a:r>
              <a:rPr lang="ko-KR" altLang="en-US" sz="2000" b="0" i="0" spc="0" dirty="0">
                <a:solidFill>
                  <a:schemeClr val="tx1"/>
                </a:solidFill>
                <a:latin typeface="Apple SD Gothic Neo"/>
                <a:ea typeface="Apple SD Gothic Neo"/>
                <a:cs typeface="Apple SD Gothic Neo"/>
              </a:rPr>
              <a:t>서연</a:t>
            </a:r>
            <a:r>
              <a:rPr lang="ko-KR" sz="2000" b="0" i="0" spc="0" dirty="0">
                <a:solidFill>
                  <a:schemeClr val="tx1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lang="ko-KR" sz="2000" b="0" i="0" spc="0" dirty="0" err="1">
                <a:solidFill>
                  <a:schemeClr val="tx1"/>
                </a:solidFill>
                <a:latin typeface="Apple SD Gothic Neo"/>
                <a:ea typeface="Apple SD Gothic Neo"/>
                <a:cs typeface="Apple SD Gothic Neo"/>
              </a:rPr>
              <a:t>박</a:t>
            </a:r>
            <a:r>
              <a:rPr lang="ko-KR" altLang="en-US" sz="2000" b="0" i="0" spc="0" dirty="0" err="1">
                <a:solidFill>
                  <a:schemeClr val="tx1"/>
                </a:solidFill>
                <a:latin typeface="Apple SD Gothic Neo"/>
                <a:ea typeface="Apple SD Gothic Neo"/>
                <a:cs typeface="Apple SD Gothic Neo"/>
              </a:rPr>
              <a:t>세렴</a:t>
            </a:r>
            <a:r>
              <a:rPr lang="ko-KR" sz="2000" b="0" i="0" spc="0" dirty="0">
                <a:solidFill>
                  <a:schemeClr val="tx1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lang="ko-KR" sz="2000" b="0" i="0" spc="0" dirty="0" err="1">
                <a:solidFill>
                  <a:schemeClr val="tx1"/>
                </a:solidFill>
                <a:latin typeface="Apple SD Gothic Neo"/>
                <a:ea typeface="Apple SD Gothic Neo"/>
                <a:cs typeface="Apple SD Gothic Neo"/>
              </a:rPr>
              <a:t>박신혁</a:t>
            </a:r>
            <a:r>
              <a:rPr lang="ko-KR" altLang="ko-KR" sz="2000" dirty="0">
                <a:solidFill>
                  <a:schemeClr val="tx1"/>
                </a:solidFill>
              </a:rPr>
              <a:t> · </a:t>
            </a:r>
            <a:r>
              <a:rPr lang="ko-KR" altLang="en-US" sz="2000" dirty="0">
                <a:solidFill>
                  <a:schemeClr val="tx1"/>
                </a:solidFill>
              </a:rPr>
              <a:t>손영원</a:t>
            </a:r>
            <a:endParaRPr lang="ko-KR" sz="2000" b="0" i="0" spc="0" dirty="0">
              <a:solidFill>
                <a:schemeClr val="tx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CF2657B4-ACAF-4B8F-A8F9-48539933DFE8}"/>
              </a:ext>
            </a:extLst>
          </p:cNvPr>
          <p:cNvSpPr>
            <a:spLocks noGrp="1"/>
          </p:cNvSpPr>
          <p:nvPr/>
        </p:nvSpPr>
        <p:spPr>
          <a:xfrm>
            <a:off x="685800" y="7828758"/>
            <a:ext cx="2558058" cy="3945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가천대학교 인공지능학과 · AI 1분반 3조</a:t>
            </a:r>
          </a:p>
        </p:txBody>
      </p:sp>
      <p:sp>
        <p:nvSpPr>
          <p:cNvPr id="17" name="html-16-slide cover active">
            <a:extLst>
              <a:ext uri="{FF2B5EF4-FFF2-40B4-BE49-F238E27FC236}">
                <a16:creationId xmlns:a16="http://schemas.microsoft.com/office/drawing/2014/main" id="{FF79BEBA-0D21-4F09-8D9B-4455C594DEC7}"/>
              </a:ext>
            </a:extLst>
          </p:cNvPr>
          <p:cNvSpPr>
            <a:spLocks noGrp="1"/>
          </p:cNvSpPr>
          <p:nvPr/>
        </p:nvSpPr>
        <p:spPr>
          <a:xfrm>
            <a:off x="15078075" y="0"/>
            <a:ext cx="161925" cy="8572500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025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tml-0-slide active">
            <a:extLst>
              <a:ext uri="{FF2B5EF4-FFF2-40B4-BE49-F238E27FC236}">
                <a16:creationId xmlns:a16="http://schemas.microsoft.com/office/drawing/2014/main" id="{803D2DB2-5499-4FFC-A442-53E8369DE5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D2B40C80-6327-4863-9D40-E2BCD1EF8A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B8BCF43D-9B5B-40A6-A5D6-4270E2C4419D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85338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개발 배경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5E377338-4068-4A76-B3AA-86EE9CDC2634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5986909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문서 확인과 조건 정리가 반복되는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87BA9ACB-3355-425C-893D-FC142FB44834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2577554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경쟁상품 조사</a:t>
            </a:r>
          </a:p>
        </p:txBody>
      </p:sp>
      <p:sp>
        <p:nvSpPr>
          <p:cNvPr id="6" name="html-text-5">
            <a:extLst>
              <a:ext uri="{FF2B5EF4-FFF2-40B4-BE49-F238E27FC236}">
                <a16:creationId xmlns:a16="http://schemas.microsoft.com/office/drawing/2014/main" id="{E79DA118-F9B1-49B6-B93B-07DE960131F7}"/>
              </a:ext>
            </a:extLst>
          </p:cNvPr>
          <p:cNvSpPr>
            <a:spLocks noGrp="1"/>
          </p:cNvSpPr>
          <p:nvPr/>
        </p:nvSpPr>
        <p:spPr>
          <a:xfrm>
            <a:off x="685800" y="2965698"/>
            <a:ext cx="2768501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rPr>
              <a:t>카드사 대외활동에서 접한</a:t>
            </a:r>
          </a:p>
        </p:txBody>
      </p:sp>
      <p:sp>
        <p:nvSpPr>
          <p:cNvPr id="7" name="html-text-6">
            <a:extLst>
              <a:ext uri="{FF2B5EF4-FFF2-40B4-BE49-F238E27FC236}">
                <a16:creationId xmlns:a16="http://schemas.microsoft.com/office/drawing/2014/main" id="{FFD4F731-664C-45A4-8810-33D4E1FA7D74}"/>
              </a:ext>
            </a:extLst>
          </p:cNvPr>
          <p:cNvSpPr>
            <a:spLocks noGrp="1"/>
          </p:cNvSpPr>
          <p:nvPr/>
        </p:nvSpPr>
        <p:spPr>
          <a:xfrm>
            <a:off x="685800" y="3365748"/>
            <a:ext cx="2833836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1" i="0" spc="-38" dirty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현업의 경쟁상품 비교 업무</a:t>
            </a:r>
          </a:p>
        </p:txBody>
      </p:sp>
      <p:sp>
        <p:nvSpPr>
          <p:cNvPr id="8" name="html-7-border">
            <a:extLst>
              <a:ext uri="{FF2B5EF4-FFF2-40B4-BE49-F238E27FC236}">
                <a16:creationId xmlns:a16="http://schemas.microsoft.com/office/drawing/2014/main" id="{2BDEE541-A666-4E12-AF08-D8CA86C70F2C}"/>
              </a:ext>
            </a:extLst>
          </p:cNvPr>
          <p:cNvSpPr>
            <a:spLocks noGrp="1"/>
          </p:cNvSpPr>
          <p:nvPr/>
        </p:nvSpPr>
        <p:spPr>
          <a:xfrm>
            <a:off x="1066800" y="4956423"/>
            <a:ext cx="5166271" cy="952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E56E06A8-E350-4848-967A-0E5C712EAD28}"/>
              </a:ext>
            </a:extLst>
          </p:cNvPr>
          <p:cNvSpPr>
            <a:spLocks noGrp="1"/>
          </p:cNvSpPr>
          <p:nvPr/>
        </p:nvSpPr>
        <p:spPr>
          <a:xfrm>
            <a:off x="1066800" y="4203948"/>
            <a:ext cx="346174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2AD1FDCF-D0CE-4101-B79B-2F37CA4803E1}"/>
              </a:ext>
            </a:extLst>
          </p:cNvPr>
          <p:cNvSpPr>
            <a:spLocks noGrp="1"/>
          </p:cNvSpPr>
          <p:nvPr/>
        </p:nvSpPr>
        <p:spPr>
          <a:xfrm>
            <a:off x="1451074" y="4156323"/>
            <a:ext cx="1568053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공식 자료 확인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99D13BE0-AEA9-4E6B-AD72-49BC4A5BF916}"/>
              </a:ext>
            </a:extLst>
          </p:cNvPr>
          <p:cNvSpPr>
            <a:spLocks noGrp="1"/>
          </p:cNvSpPr>
          <p:nvPr/>
        </p:nvSpPr>
        <p:spPr>
          <a:xfrm>
            <a:off x="1451074" y="4527798"/>
            <a:ext cx="2455218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상품별 </a:t>
            </a:r>
            <a:r>
              <a:rPr lang="ko-KR" sz="1575" b="0" i="0" spc="0" dirty="0" err="1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본문·표·유의사항</a:t>
            </a: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탐색</a:t>
            </a:r>
          </a:p>
        </p:txBody>
      </p:sp>
      <p:sp>
        <p:nvSpPr>
          <p:cNvPr id="12" name="html-11-border">
            <a:extLst>
              <a:ext uri="{FF2B5EF4-FFF2-40B4-BE49-F238E27FC236}">
                <a16:creationId xmlns:a16="http://schemas.microsoft.com/office/drawing/2014/main" id="{E519ACD8-CA00-4866-A353-8B306575A6D6}"/>
              </a:ext>
            </a:extLst>
          </p:cNvPr>
          <p:cNvSpPr>
            <a:spLocks noGrp="1"/>
          </p:cNvSpPr>
          <p:nvPr/>
        </p:nvSpPr>
        <p:spPr>
          <a:xfrm>
            <a:off x="1066800" y="5908923"/>
            <a:ext cx="5166271" cy="952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F5A71FED-D6EA-44D8-968C-AB2DB2DD6DEB}"/>
              </a:ext>
            </a:extLst>
          </p:cNvPr>
          <p:cNvSpPr>
            <a:spLocks noGrp="1"/>
          </p:cNvSpPr>
          <p:nvPr/>
        </p:nvSpPr>
        <p:spPr>
          <a:xfrm>
            <a:off x="1066800" y="5156448"/>
            <a:ext cx="37653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12003961-810E-42F1-AAE5-64574C431A3D}"/>
              </a:ext>
            </a:extLst>
          </p:cNvPr>
          <p:cNvSpPr>
            <a:spLocks noGrp="1"/>
          </p:cNvSpPr>
          <p:nvPr/>
        </p:nvSpPr>
        <p:spPr>
          <a:xfrm>
            <a:off x="1481435" y="5108823"/>
            <a:ext cx="1996529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같은 기준으로 정리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E2F0653A-5FE2-44C9-9187-39B3B038C95A}"/>
              </a:ext>
            </a:extLst>
          </p:cNvPr>
          <p:cNvSpPr>
            <a:spLocks noGrp="1"/>
          </p:cNvSpPr>
          <p:nvPr/>
        </p:nvSpPr>
        <p:spPr>
          <a:xfrm>
            <a:off x="1481435" y="5480298"/>
            <a:ext cx="283785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혜택 비율과 적용 조건을 표로 작성</a:t>
            </a:r>
          </a:p>
        </p:txBody>
      </p:sp>
      <p:sp>
        <p:nvSpPr>
          <p:cNvPr id="16" name="html-15-border">
            <a:extLst>
              <a:ext uri="{FF2B5EF4-FFF2-40B4-BE49-F238E27FC236}">
                <a16:creationId xmlns:a16="http://schemas.microsoft.com/office/drawing/2014/main" id="{265EB0C7-9931-49FD-A506-8E290F0FA074}"/>
              </a:ext>
            </a:extLst>
          </p:cNvPr>
          <p:cNvSpPr>
            <a:spLocks noGrp="1"/>
          </p:cNvSpPr>
          <p:nvPr/>
        </p:nvSpPr>
        <p:spPr>
          <a:xfrm>
            <a:off x="1066800" y="6861423"/>
            <a:ext cx="5166271" cy="952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58244DF3-26D5-4AC7-A9A1-2E307DE03018}"/>
              </a:ext>
            </a:extLst>
          </p:cNvPr>
          <p:cNvSpPr>
            <a:spLocks noGrp="1"/>
          </p:cNvSpPr>
          <p:nvPr/>
        </p:nvSpPr>
        <p:spPr>
          <a:xfrm>
            <a:off x="1066800" y="6108948"/>
            <a:ext cx="37534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B4A73A19-E734-4545-8856-F6A47CAE2320}"/>
              </a:ext>
            </a:extLst>
          </p:cNvPr>
          <p:cNvSpPr>
            <a:spLocks noGrp="1"/>
          </p:cNvSpPr>
          <p:nvPr/>
        </p:nvSpPr>
        <p:spPr>
          <a:xfrm>
            <a:off x="1480245" y="6061323"/>
            <a:ext cx="2490043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950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누락과 연결 관계 재확인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53B5662B-B174-44E1-9D4E-74B9C72C32CC}"/>
              </a:ext>
            </a:extLst>
          </p:cNvPr>
          <p:cNvSpPr>
            <a:spLocks noGrp="1"/>
          </p:cNvSpPr>
          <p:nvPr/>
        </p:nvSpPr>
        <p:spPr>
          <a:xfrm>
            <a:off x="1480245" y="6432798"/>
            <a:ext cx="2680841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실적·한도·제외 조건의 소속 검토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C9D82F0D-3063-4462-9CDA-94B12B6C5F7C}"/>
              </a:ext>
            </a:extLst>
          </p:cNvPr>
          <p:cNvSpPr>
            <a:spLocks noGrp="1"/>
          </p:cNvSpPr>
          <p:nvPr/>
        </p:nvSpPr>
        <p:spPr>
          <a:xfrm>
            <a:off x="685800" y="7099548"/>
            <a:ext cx="385479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반복되는 정리 과정을 AI가 보조할 수 있을까?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95BF3A8-531D-4D63-B88E-9117A6B01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90587" y="2805367"/>
            <a:ext cx="7863297" cy="4426532"/>
          </a:xfrm>
          <a:prstGeom prst="rect">
            <a:avLst/>
          </a:prstGeom>
        </p:spPr>
      </p:pic>
      <p:sp>
        <p:nvSpPr>
          <p:cNvPr id="24" name="html-text-23">
            <a:extLst>
              <a:ext uri="{FF2B5EF4-FFF2-40B4-BE49-F238E27FC236}">
                <a16:creationId xmlns:a16="http://schemas.microsoft.com/office/drawing/2014/main" id="{A8C39845-D8C1-4A07-B01F-7E4EC6ED4E03}"/>
              </a:ext>
            </a:extLst>
          </p:cNvPr>
          <p:cNvSpPr>
            <a:spLocks noGrp="1"/>
          </p:cNvSpPr>
          <p:nvPr/>
        </p:nvSpPr>
        <p:spPr>
          <a:xfrm>
            <a:off x="14131230" y="8131969"/>
            <a:ext cx="57537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429374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-1-border">
            <a:extLst>
              <a:ext uri="{FF2B5EF4-FFF2-40B4-BE49-F238E27FC236}">
                <a16:creationId xmlns:a16="http://schemas.microsoft.com/office/drawing/2014/main" id="{5675E125-C372-4399-BB1A-96239A6024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FEB341A0-05AB-4152-A338-3299C7D441F4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85338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문제 사례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567032E3-D244-4879-8DC1-B99C6F6D543F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3350716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혜택 비율만으로는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5425BF99-871E-4AFB-A786-CB7549DA2CAD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7146578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상품의 적용 조건을 비교하기 어렵습니다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E09602-9E39-4DC3-9800-7D0AB68DA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4280" y="2413838"/>
            <a:ext cx="6542086" cy="4958485"/>
          </a:xfrm>
          <a:prstGeom prst="rect">
            <a:avLst/>
          </a:prstGeom>
        </p:spPr>
      </p:pic>
      <p:sp>
        <p:nvSpPr>
          <p:cNvPr id="8" name="html-7-figure-tag">
            <a:extLst>
              <a:ext uri="{FF2B5EF4-FFF2-40B4-BE49-F238E27FC236}">
                <a16:creationId xmlns:a16="http://schemas.microsoft.com/office/drawing/2014/main" id="{44F96877-E06C-496C-A220-F4643521902D}"/>
              </a:ext>
            </a:extLst>
          </p:cNvPr>
          <p:cNvSpPr>
            <a:spLocks noGrp="1"/>
          </p:cNvSpPr>
          <p:nvPr/>
        </p:nvSpPr>
        <p:spPr>
          <a:xfrm>
            <a:off x="685800" y="2120470"/>
            <a:ext cx="1099840" cy="3143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1D568B85-4E1E-4CA0-BAD9-189C5C5E8E1D}"/>
              </a:ext>
            </a:extLst>
          </p:cNvPr>
          <p:cNvSpPr>
            <a:spLocks noGrp="1"/>
          </p:cNvSpPr>
          <p:nvPr/>
        </p:nvSpPr>
        <p:spPr>
          <a:xfrm>
            <a:off x="786245" y="2195805"/>
            <a:ext cx="102364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200" b="1" i="0" spc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200" b="1" i="0" spc="0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 자료 발췌</a:t>
            </a:r>
          </a:p>
        </p:txBody>
      </p:sp>
      <p:sp>
        <p:nvSpPr>
          <p:cNvPr id="10" name="html-9-case-callout">
            <a:extLst>
              <a:ext uri="{FF2B5EF4-FFF2-40B4-BE49-F238E27FC236}">
                <a16:creationId xmlns:a16="http://schemas.microsoft.com/office/drawing/2014/main" id="{A07C1331-FB80-4FBE-B8A7-23CF9310E294}"/>
              </a:ext>
            </a:extLst>
          </p:cNvPr>
          <p:cNvSpPr>
            <a:spLocks noGrp="1"/>
          </p:cNvSpPr>
          <p:nvPr/>
        </p:nvSpPr>
        <p:spPr>
          <a:xfrm>
            <a:off x="7632502" y="2376785"/>
            <a:ext cx="6921698" cy="1684734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html-10-border">
            <a:extLst>
              <a:ext uri="{FF2B5EF4-FFF2-40B4-BE49-F238E27FC236}">
                <a16:creationId xmlns:a16="http://schemas.microsoft.com/office/drawing/2014/main" id="{73CBD630-E1F8-4F11-972A-BF0896879BE9}"/>
              </a:ext>
            </a:extLst>
          </p:cNvPr>
          <p:cNvSpPr>
            <a:spLocks noGrp="1"/>
          </p:cNvSpPr>
          <p:nvPr/>
        </p:nvSpPr>
        <p:spPr>
          <a:xfrm>
            <a:off x="7632502" y="2376785"/>
            <a:ext cx="6921698" cy="3810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59FD1F7A-9A8B-4EB0-9CC5-A86225DDA334}"/>
              </a:ext>
            </a:extLst>
          </p:cNvPr>
          <p:cNvSpPr>
            <a:spLocks noGrp="1"/>
          </p:cNvSpPr>
          <p:nvPr/>
        </p:nvSpPr>
        <p:spPr>
          <a:xfrm>
            <a:off x="7918252" y="2633960"/>
            <a:ext cx="1132433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공유 한도 확인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EB297A29-1EC4-4D45-8DE1-DAAE91B59B0A}"/>
              </a:ext>
            </a:extLst>
          </p:cNvPr>
          <p:cNvSpPr>
            <a:spLocks noGrp="1"/>
          </p:cNvSpPr>
          <p:nvPr/>
        </p:nvSpPr>
        <p:spPr>
          <a:xfrm>
            <a:off x="7918252" y="2967335"/>
            <a:ext cx="176539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이동통신 10%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928ACD8E-5C71-411E-AE29-7FACBF39AC41}"/>
              </a:ext>
            </a:extLst>
          </p:cNvPr>
          <p:cNvSpPr>
            <a:spLocks noGrp="1"/>
          </p:cNvSpPr>
          <p:nvPr/>
        </p:nvSpPr>
        <p:spPr>
          <a:xfrm>
            <a:off x="9531251" y="2967335"/>
            <a:ext cx="47223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EEAE34FE-14D7-45FF-9C3D-B10F77BD7CE5}"/>
              </a:ext>
            </a:extLst>
          </p:cNvPr>
          <p:cNvSpPr>
            <a:spLocks noGrp="1"/>
          </p:cNvSpPr>
          <p:nvPr/>
        </p:nvSpPr>
        <p:spPr>
          <a:xfrm>
            <a:off x="9851082" y="2967335"/>
            <a:ext cx="1345704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1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OTT 30%</a:t>
            </a:r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59D58C2F-D282-4D2D-9516-738CD0D79BC2}"/>
              </a:ext>
            </a:extLst>
          </p:cNvPr>
          <p:cNvSpPr>
            <a:spLocks noGrp="1"/>
          </p:cNvSpPr>
          <p:nvPr/>
        </p:nvSpPr>
        <p:spPr>
          <a:xfrm>
            <a:off x="7918252" y="3395365"/>
            <a:ext cx="472232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월 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9121DD94-C3DD-4108-8ECA-59116B86885F}"/>
              </a:ext>
            </a:extLst>
          </p:cNvPr>
          <p:cNvSpPr>
            <a:spLocks noGrp="1"/>
          </p:cNvSpPr>
          <p:nvPr/>
        </p:nvSpPr>
        <p:spPr>
          <a:xfrm>
            <a:off x="8238083" y="3395365"/>
            <a:ext cx="796528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5천원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A1541FAC-9E5A-4E46-9615-2072F65B77BB}"/>
              </a:ext>
            </a:extLst>
          </p:cNvPr>
          <p:cNvSpPr>
            <a:spLocks noGrp="1"/>
          </p:cNvSpPr>
          <p:nvPr/>
        </p:nvSpPr>
        <p:spPr>
          <a:xfrm>
            <a:off x="8882211" y="3395365"/>
            <a:ext cx="1538139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 한도를 공유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7B459DE7-3B81-47C4-9A4E-283B6D5F0DA1}"/>
              </a:ext>
            </a:extLst>
          </p:cNvPr>
          <p:cNvSpPr>
            <a:spLocks noGrp="1"/>
          </p:cNvSpPr>
          <p:nvPr/>
        </p:nvSpPr>
        <p:spPr>
          <a:xfrm>
            <a:off x="7680127" y="4185345"/>
            <a:ext cx="117574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40만원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226AA85B-025C-4692-AE58-B0FEDA101A38}"/>
              </a:ext>
            </a:extLst>
          </p:cNvPr>
          <p:cNvSpPr>
            <a:spLocks noGrp="1"/>
          </p:cNvSpPr>
          <p:nvPr/>
        </p:nvSpPr>
        <p:spPr>
          <a:xfrm>
            <a:off x="7680127" y="4642545"/>
            <a:ext cx="1570881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전월 이용실적 조건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03BB3175-2605-4CBA-9ED1-6A037E872506}"/>
              </a:ext>
            </a:extLst>
          </p:cNvPr>
          <p:cNvSpPr>
            <a:spLocks noGrp="1"/>
          </p:cNvSpPr>
          <p:nvPr/>
        </p:nvSpPr>
        <p:spPr>
          <a:xfrm>
            <a:off x="11207651" y="4185345"/>
            <a:ext cx="1344364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7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2,500원</a:t>
            </a:r>
          </a:p>
        </p:txBody>
      </p:sp>
      <p:sp>
        <p:nvSpPr>
          <p:cNvPr id="22" name="html-text-21">
            <a:extLst>
              <a:ext uri="{FF2B5EF4-FFF2-40B4-BE49-F238E27FC236}">
                <a16:creationId xmlns:a16="http://schemas.microsoft.com/office/drawing/2014/main" id="{D157F7EA-6CBA-4293-83D2-00C8C85B2A75}"/>
              </a:ext>
            </a:extLst>
          </p:cNvPr>
          <p:cNvSpPr>
            <a:spLocks noGrp="1"/>
          </p:cNvSpPr>
          <p:nvPr/>
        </p:nvSpPr>
        <p:spPr>
          <a:xfrm>
            <a:off x="11207651" y="4642545"/>
            <a:ext cx="119122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건당 할인한도</a:t>
            </a:r>
          </a:p>
        </p:txBody>
      </p:sp>
      <p:sp>
        <p:nvSpPr>
          <p:cNvPr id="27" name="html-text-26">
            <a:extLst>
              <a:ext uri="{FF2B5EF4-FFF2-40B4-BE49-F238E27FC236}">
                <a16:creationId xmlns:a16="http://schemas.microsoft.com/office/drawing/2014/main" id="{C5EC70BF-ED5A-46DA-B3FA-724247B6C9A9}"/>
              </a:ext>
            </a:extLst>
          </p:cNvPr>
          <p:cNvSpPr>
            <a:spLocks noGrp="1"/>
          </p:cNvSpPr>
          <p:nvPr/>
        </p:nvSpPr>
        <p:spPr>
          <a:xfrm>
            <a:off x="7718227" y="5118795"/>
            <a:ext cx="719882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혜택 제외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C12CE8D5-EDBE-47A6-9AF0-733FF5155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610" b="5491"/>
          <a:stretch>
            <a:fillRect/>
          </a:stretch>
        </p:blipFill>
        <p:spPr>
          <a:xfrm>
            <a:off x="7620000" y="5500845"/>
            <a:ext cx="3369426" cy="1817226"/>
          </a:xfrm>
          <a:prstGeom prst="rect">
            <a:avLst/>
          </a:prstGeom>
        </p:spPr>
      </p:pic>
      <p:sp>
        <p:nvSpPr>
          <p:cNvPr id="33" name="html-text-32">
            <a:extLst>
              <a:ext uri="{FF2B5EF4-FFF2-40B4-BE49-F238E27FC236}">
                <a16:creationId xmlns:a16="http://schemas.microsoft.com/office/drawing/2014/main" id="{0BCAFDF1-5129-4800-90FB-30B1A0BD9FFC}"/>
              </a:ext>
            </a:extLst>
          </p:cNvPr>
          <p:cNvSpPr>
            <a:spLocks noGrp="1"/>
          </p:cNvSpPr>
          <p:nvPr/>
        </p:nvSpPr>
        <p:spPr>
          <a:xfrm>
            <a:off x="11255276" y="5118795"/>
            <a:ext cx="719882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2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200" b="1" i="0" spc="0" dirty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실적 제외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808A93C-0FE5-4C67-853F-C27576466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153236" y="5500845"/>
            <a:ext cx="3199372" cy="1817226"/>
          </a:xfrm>
          <a:prstGeom prst="rect">
            <a:avLst/>
          </a:prstGeom>
        </p:spPr>
      </p:pic>
      <p:sp>
        <p:nvSpPr>
          <p:cNvPr id="36" name="html-35-border">
            <a:extLst>
              <a:ext uri="{FF2B5EF4-FFF2-40B4-BE49-F238E27FC236}">
                <a16:creationId xmlns:a16="http://schemas.microsoft.com/office/drawing/2014/main" id="{49B9E8D9-DD4F-4D7F-875A-2A46A028544B}"/>
              </a:ext>
            </a:extLst>
          </p:cNvPr>
          <p:cNvSpPr>
            <a:spLocks noGrp="1"/>
          </p:cNvSpPr>
          <p:nvPr/>
        </p:nvSpPr>
        <p:spPr>
          <a:xfrm>
            <a:off x="685800" y="8332589"/>
            <a:ext cx="2720132" cy="9525"/>
          </a:xfrm>
          <a:prstGeom prst="rect">
            <a:avLst/>
          </a:prstGeom>
          <a:solidFill>
            <a:srgbClr val="C7CD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html-text-36">
            <a:extLst>
              <a:ext uri="{FF2B5EF4-FFF2-40B4-BE49-F238E27FC236}">
                <a16:creationId xmlns:a16="http://schemas.microsoft.com/office/drawing/2014/main" id="{D5667B80-7BE4-48D7-893F-225094A6F5AC}"/>
              </a:ext>
            </a:extLst>
          </p:cNvPr>
          <p:cNvSpPr>
            <a:spLocks noGrp="1"/>
          </p:cNvSpPr>
          <p:nvPr/>
        </p:nvSpPr>
        <p:spPr>
          <a:xfrm>
            <a:off x="685800" y="8133606"/>
            <a:ext cx="2872532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6"/>
              </a:rPr>
              <a:t>출처: KB국민카드 공식 상품 안내</a:t>
            </a:r>
          </a:p>
        </p:txBody>
      </p:sp>
      <p:sp>
        <p:nvSpPr>
          <p:cNvPr id="38" name="html-text-37">
            <a:extLst>
              <a:ext uri="{FF2B5EF4-FFF2-40B4-BE49-F238E27FC236}">
                <a16:creationId xmlns:a16="http://schemas.microsoft.com/office/drawing/2014/main" id="{DA292001-544B-4F94-A254-37AC87707CB0}"/>
              </a:ext>
            </a:extLst>
          </p:cNvPr>
          <p:cNvSpPr>
            <a:spLocks noGrp="1"/>
          </p:cNvSpPr>
          <p:nvPr/>
        </p:nvSpPr>
        <p:spPr>
          <a:xfrm>
            <a:off x="14131975" y="8131969"/>
            <a:ext cx="574625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61456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tml-0-slide active">
            <a:extLst>
              <a:ext uri="{FF2B5EF4-FFF2-40B4-BE49-F238E27FC236}">
                <a16:creationId xmlns:a16="http://schemas.microsoft.com/office/drawing/2014/main" id="{1AD8BE45-D661-4433-93AC-D155D4186A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64D6A44C-A55C-4C05-99C6-B462EBBA83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A2AFB046-565B-45FE-A903-10A4F3CC21FD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85338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개발 목표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1B354590-2B2A-4225-83C7-8A9A6A691DEA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6373416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비교에 필요한 여섯 조건을 추출하고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DA7CE995-B54D-4C01-A368-C5FA357C4852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5986909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근거를 확인할 수 있게 정리합니다</a:t>
            </a:r>
          </a:p>
        </p:txBody>
      </p:sp>
      <p:sp>
        <p:nvSpPr>
          <p:cNvPr id="6" name="html-text-5">
            <a:extLst>
              <a:ext uri="{FF2B5EF4-FFF2-40B4-BE49-F238E27FC236}">
                <a16:creationId xmlns:a16="http://schemas.microsoft.com/office/drawing/2014/main" id="{DD555FCF-9721-4FE1-BDA6-B6B4102757D7}"/>
              </a:ext>
            </a:extLst>
          </p:cNvPr>
          <p:cNvSpPr>
            <a:spLocks noGrp="1"/>
          </p:cNvSpPr>
          <p:nvPr/>
        </p:nvSpPr>
        <p:spPr>
          <a:xfrm>
            <a:off x="685800" y="2338685"/>
            <a:ext cx="1018729" cy="1295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8475" b="1" i="0" spc="-4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7" name="html-text-6">
            <a:extLst>
              <a:ext uri="{FF2B5EF4-FFF2-40B4-BE49-F238E27FC236}">
                <a16:creationId xmlns:a16="http://schemas.microsoft.com/office/drawing/2014/main" id="{10F0BC3D-AF83-4744-8704-2990E10CEAA4}"/>
              </a:ext>
            </a:extLst>
          </p:cNvPr>
          <p:cNvSpPr>
            <a:spLocks noGrp="1"/>
          </p:cNvSpPr>
          <p:nvPr/>
        </p:nvSpPr>
        <p:spPr>
          <a:xfrm>
            <a:off x="1736452" y="3492258"/>
            <a:ext cx="1854696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00" b="1" i="0" spc="0" dirty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일반 신용카드 </a:t>
            </a:r>
            <a:r>
              <a:rPr lang="ko-KR" sz="1800" b="1" i="0" spc="0" dirty="0" err="1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상품</a:t>
            </a:r>
            <a:r>
              <a:rPr lang="ko-KR" altLang="en-US" sz="1800" b="1" i="0" spc="0" dirty="0" err="1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군</a:t>
            </a:r>
            <a:endParaRPr lang="ko-KR" sz="1800" b="1" i="0" spc="0" dirty="0">
              <a:solidFill>
                <a:srgbClr val="011B9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C632D48E-4990-4DAB-8A37-00348A916B76}"/>
              </a:ext>
            </a:extLst>
          </p:cNvPr>
          <p:cNvSpPr>
            <a:spLocks noGrp="1"/>
          </p:cNvSpPr>
          <p:nvPr/>
        </p:nvSpPr>
        <p:spPr>
          <a:xfrm>
            <a:off x="1736452" y="3048297"/>
            <a:ext cx="350193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dirty="0"/>
              <a:t>개</a:t>
            </a:r>
            <a:endParaRPr lang="ko-KR" sz="1800" b="1" i="0" spc="0" dirty="0">
              <a:solidFill>
                <a:srgbClr val="011B9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0A2C8CB2-1070-4124-BC85-26780F66ED97}"/>
              </a:ext>
            </a:extLst>
          </p:cNvPr>
          <p:cNvSpPr>
            <a:spLocks noGrp="1"/>
          </p:cNvSpPr>
          <p:nvPr/>
        </p:nvSpPr>
        <p:spPr>
          <a:xfrm>
            <a:off x="685800" y="4070152"/>
            <a:ext cx="2101304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0" i="0" spc="-38">
                <a:solidFill>
                  <a:srgbClr val="1D263C"/>
                </a:solidFill>
                <a:latin typeface="Apple SD Gothic Neo"/>
                <a:ea typeface="Apple SD Gothic Neo"/>
                <a:cs typeface="Apple SD Gothic Neo"/>
              </a:rPr>
              <a:t>온·오프라인 결제의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D340554A-A787-440F-9B82-4A8BCD9597B0}"/>
              </a:ext>
            </a:extLst>
          </p:cNvPr>
          <p:cNvSpPr>
            <a:spLocks noGrp="1"/>
          </p:cNvSpPr>
          <p:nvPr/>
        </p:nvSpPr>
        <p:spPr>
          <a:xfrm>
            <a:off x="685800" y="4470202"/>
            <a:ext cx="2392710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정률 할인·포인트 적립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43813225-24B1-4B6F-BB83-4507E3205C59}"/>
              </a:ext>
            </a:extLst>
          </p:cNvPr>
          <p:cNvSpPr>
            <a:spLocks noGrp="1"/>
          </p:cNvSpPr>
          <p:nvPr/>
        </p:nvSpPr>
        <p:spPr>
          <a:xfrm>
            <a:off x="685800" y="5108377"/>
            <a:ext cx="14763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공개 인기순위와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3423A8E9-EEBD-480B-BA57-8BE77B331914}"/>
              </a:ext>
            </a:extLst>
          </p:cNvPr>
          <p:cNvSpPr>
            <a:spLocks noGrp="1"/>
          </p:cNvSpPr>
          <p:nvPr/>
        </p:nvSpPr>
        <p:spPr>
          <a:xfrm>
            <a:off x="685800" y="5422702"/>
            <a:ext cx="236681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공식 자료 확보 여부로 선정</a:t>
            </a:r>
          </a:p>
        </p:txBody>
      </p:sp>
      <p:sp>
        <p:nvSpPr>
          <p:cNvPr id="13" name="html-12-border">
            <a:extLst>
              <a:ext uri="{FF2B5EF4-FFF2-40B4-BE49-F238E27FC236}">
                <a16:creationId xmlns:a16="http://schemas.microsoft.com/office/drawing/2014/main" id="{DFCD9F57-E3EC-46CE-8CF3-52E3BF7432C4}"/>
              </a:ext>
            </a:extLst>
          </p:cNvPr>
          <p:cNvSpPr>
            <a:spLocks noGrp="1"/>
          </p:cNvSpPr>
          <p:nvPr/>
        </p:nvSpPr>
        <p:spPr>
          <a:xfrm>
            <a:off x="685800" y="5965627"/>
            <a:ext cx="4437757" cy="1905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C1863046-04E9-48B5-9B89-200C87F8F41B}"/>
              </a:ext>
            </a:extLst>
          </p:cNvPr>
          <p:cNvSpPr>
            <a:spLocks noGrp="1"/>
          </p:cNvSpPr>
          <p:nvPr/>
        </p:nvSpPr>
        <p:spPr>
          <a:xfrm>
            <a:off x="685800" y="6156127"/>
            <a:ext cx="2439144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범위 밖은 표시하고 원문 보존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8D76E8D9-4066-43D4-9B9E-878B6CC9E2E6}"/>
              </a:ext>
            </a:extLst>
          </p:cNvPr>
          <p:cNvSpPr>
            <a:spLocks noGrp="1"/>
          </p:cNvSpPr>
          <p:nvPr/>
        </p:nvSpPr>
        <p:spPr>
          <a:xfrm>
            <a:off x="685800" y="6518077"/>
            <a:ext cx="1735782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플랫폼 제휴카드 제외</a:t>
            </a:r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128A7C94-EC0D-40A5-8F17-9A57D02D515F}"/>
              </a:ext>
            </a:extLst>
          </p:cNvPr>
          <p:cNvSpPr>
            <a:spLocks noGrp="1"/>
          </p:cNvSpPr>
          <p:nvPr/>
        </p:nvSpPr>
        <p:spPr>
          <a:xfrm>
            <a:off x="685800" y="6813352"/>
            <a:ext cx="2717602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정액·복잡한 중복 혜택은 검토 대상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C28C486-F093-4C51-9D91-1E176629C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24166" y="2589758"/>
            <a:ext cx="7286625" cy="4857750"/>
          </a:xfrm>
          <a:prstGeom prst="rect">
            <a:avLst/>
          </a:prstGeom>
        </p:spPr>
      </p:pic>
      <p:sp>
        <p:nvSpPr>
          <p:cNvPr id="20" name="html-text-19">
            <a:extLst>
              <a:ext uri="{FF2B5EF4-FFF2-40B4-BE49-F238E27FC236}">
                <a16:creationId xmlns:a16="http://schemas.microsoft.com/office/drawing/2014/main" id="{B7D8E436-6AF3-4E49-B749-936DCA1CAB65}"/>
              </a:ext>
            </a:extLst>
          </p:cNvPr>
          <p:cNvSpPr>
            <a:spLocks noGrp="1"/>
          </p:cNvSpPr>
          <p:nvPr/>
        </p:nvSpPr>
        <p:spPr>
          <a:xfrm>
            <a:off x="14121705" y="8131969"/>
            <a:ext cx="584895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56014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tml-0-slide active">
            <a:extLst>
              <a:ext uri="{FF2B5EF4-FFF2-40B4-BE49-F238E27FC236}">
                <a16:creationId xmlns:a16="http://schemas.microsoft.com/office/drawing/2014/main" id="{D244EC00-1E6C-4A91-811E-58904B43F3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078DCECA-FF08-4569-8423-BA0F826203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5060CD78-0F4D-4E98-83CD-A69F29C3B3CB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1530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사용자 흐름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3DDA2422-E57C-45A9-9C0B-A40C09E061DD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4721572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원문을 확인하고 수정한 뒤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93C44087-1974-4198-B875-E9A7F3BDFEF5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636657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상품 비교와 CSV 작성에 활용합니다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0910B4-0FE6-4525-B107-C00AE1055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63523" y="2464823"/>
            <a:ext cx="8968439" cy="5047196"/>
          </a:xfrm>
          <a:prstGeom prst="rect">
            <a:avLst/>
          </a:prstGeom>
        </p:spPr>
      </p:pic>
      <p:sp>
        <p:nvSpPr>
          <p:cNvPr id="7" name="html-text-6">
            <a:extLst>
              <a:ext uri="{FF2B5EF4-FFF2-40B4-BE49-F238E27FC236}">
                <a16:creationId xmlns:a16="http://schemas.microsoft.com/office/drawing/2014/main" id="{468F6F92-07ED-4F2B-BE63-762F18DA6D70}"/>
              </a:ext>
            </a:extLst>
          </p:cNvPr>
          <p:cNvSpPr>
            <a:spLocks noGrp="1"/>
          </p:cNvSpPr>
          <p:nvPr/>
        </p:nvSpPr>
        <p:spPr>
          <a:xfrm>
            <a:off x="685800" y="7645896"/>
            <a:ext cx="3524994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1" i="0" spc="0">
                <a:solidFill>
                  <a:srgbClr val="4F5E7C"/>
                </a:solidFill>
                <a:latin typeface="Apple SD Gothic Neo"/>
                <a:ea typeface="Apple SD Gothic Neo"/>
                <a:cs typeface="Apple SD Gothic Neo"/>
              </a:rPr>
              <a:t>개념 시안 · 실제 구현 전 · 예시의 상품과 값은 가상</a:t>
            </a: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D4A81D77-80B6-4EF8-B4FA-5B7718701B54}"/>
              </a:ext>
            </a:extLst>
          </p:cNvPr>
          <p:cNvSpPr>
            <a:spLocks noGrp="1"/>
          </p:cNvSpPr>
          <p:nvPr/>
        </p:nvSpPr>
        <p:spPr>
          <a:xfrm>
            <a:off x="11095434" y="3509218"/>
            <a:ext cx="346174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EE634502-92FF-43F2-B857-E038BA0348EB}"/>
              </a:ext>
            </a:extLst>
          </p:cNvPr>
          <p:cNvSpPr>
            <a:spLocks noGrp="1"/>
          </p:cNvSpPr>
          <p:nvPr/>
        </p:nvSpPr>
        <p:spPr>
          <a:xfrm>
            <a:off x="11524059" y="3490168"/>
            <a:ext cx="1807071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원문과 추출값 대조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128BDA38-4912-454E-B683-18CF38E1551A}"/>
              </a:ext>
            </a:extLst>
          </p:cNvPr>
          <p:cNvSpPr>
            <a:spLocks noGrp="1"/>
          </p:cNvSpPr>
          <p:nvPr/>
        </p:nvSpPr>
        <p:spPr>
          <a:xfrm>
            <a:off x="11524059" y="3884414"/>
            <a:ext cx="2377976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항목을 선택하면 근거 위치 확인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876D636E-0942-43D7-902F-D5C81A9BD3C8}"/>
              </a:ext>
            </a:extLst>
          </p:cNvPr>
          <p:cNvSpPr>
            <a:spLocks noGrp="1"/>
          </p:cNvSpPr>
          <p:nvPr/>
        </p:nvSpPr>
        <p:spPr>
          <a:xfrm>
            <a:off x="11095434" y="4346377"/>
            <a:ext cx="37653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7D70410D-926E-453C-9DC5-9F5E331408CF}"/>
              </a:ext>
            </a:extLst>
          </p:cNvPr>
          <p:cNvSpPr>
            <a:spLocks noGrp="1"/>
          </p:cNvSpPr>
          <p:nvPr/>
        </p:nvSpPr>
        <p:spPr>
          <a:xfrm>
            <a:off x="11524059" y="4327327"/>
            <a:ext cx="187151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수정·승인 이력 보존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4F1EB57F-1766-4416-8F0C-293F8B085EF8}"/>
              </a:ext>
            </a:extLst>
          </p:cNvPr>
          <p:cNvSpPr>
            <a:spLocks noGrp="1"/>
          </p:cNvSpPr>
          <p:nvPr/>
        </p:nvSpPr>
        <p:spPr>
          <a:xfrm>
            <a:off x="11524059" y="4721572"/>
            <a:ext cx="2582019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원래 예측과 사람의 수정 결과 분리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629F35D9-2084-49B2-9F52-CE512045BC61}"/>
              </a:ext>
            </a:extLst>
          </p:cNvPr>
          <p:cNvSpPr>
            <a:spLocks noGrp="1"/>
          </p:cNvSpPr>
          <p:nvPr/>
        </p:nvSpPr>
        <p:spPr>
          <a:xfrm>
            <a:off x="11095434" y="5183535"/>
            <a:ext cx="37534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2E86F91F-065C-4BA5-8593-AE66D12E2F5F}"/>
              </a:ext>
            </a:extLst>
          </p:cNvPr>
          <p:cNvSpPr>
            <a:spLocks noGrp="1"/>
          </p:cNvSpPr>
          <p:nvPr/>
        </p:nvSpPr>
        <p:spPr>
          <a:xfrm>
            <a:off x="11524059" y="5164485"/>
            <a:ext cx="1623417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0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비교표·CSV 활용</a:t>
            </a:r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77CD229E-8F3C-491B-B1BC-6B17F1C7C4DE}"/>
              </a:ext>
            </a:extLst>
          </p:cNvPr>
          <p:cNvSpPr>
            <a:spLocks noGrp="1"/>
          </p:cNvSpPr>
          <p:nvPr/>
        </p:nvSpPr>
        <p:spPr>
          <a:xfrm>
            <a:off x="11524059" y="5558730"/>
            <a:ext cx="2589312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조건과 근거·검토 상태를 함께 전달</a:t>
            </a:r>
          </a:p>
        </p:txBody>
      </p:sp>
      <p:sp>
        <p:nvSpPr>
          <p:cNvPr id="17" name="html-16-design-note">
            <a:extLst>
              <a:ext uri="{FF2B5EF4-FFF2-40B4-BE49-F238E27FC236}">
                <a16:creationId xmlns:a16="http://schemas.microsoft.com/office/drawing/2014/main" id="{112A1DCC-70E3-4945-9DFC-A2D592569A74}"/>
              </a:ext>
            </a:extLst>
          </p:cNvPr>
          <p:cNvSpPr>
            <a:spLocks noGrp="1"/>
          </p:cNvSpPr>
          <p:nvPr/>
        </p:nvSpPr>
        <p:spPr>
          <a:xfrm>
            <a:off x="11095434" y="6020693"/>
            <a:ext cx="3458766" cy="828675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html-17-border">
            <a:extLst>
              <a:ext uri="{FF2B5EF4-FFF2-40B4-BE49-F238E27FC236}">
                <a16:creationId xmlns:a16="http://schemas.microsoft.com/office/drawing/2014/main" id="{0CF4CF0B-12D0-41D6-98F2-04234F45B812}"/>
              </a:ext>
            </a:extLst>
          </p:cNvPr>
          <p:cNvSpPr>
            <a:spLocks noGrp="1"/>
          </p:cNvSpPr>
          <p:nvPr/>
        </p:nvSpPr>
        <p:spPr>
          <a:xfrm>
            <a:off x="11095434" y="6020693"/>
            <a:ext cx="38100" cy="82867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DC6AAEB6-5F8F-4F84-8B8D-342893A28BD9}"/>
              </a:ext>
            </a:extLst>
          </p:cNvPr>
          <p:cNvSpPr>
            <a:spLocks noGrp="1"/>
          </p:cNvSpPr>
          <p:nvPr/>
        </p:nvSpPr>
        <p:spPr>
          <a:xfrm>
            <a:off x="11285934" y="6144518"/>
            <a:ext cx="2280196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실제 구현에서는 상태를 분리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A77FA3A6-7729-472E-A33C-0823B0C54210}"/>
              </a:ext>
            </a:extLst>
          </p:cNvPr>
          <p:cNvSpPr>
            <a:spLocks noGrp="1"/>
          </p:cNvSpPr>
          <p:nvPr/>
        </p:nvSpPr>
        <p:spPr>
          <a:xfrm>
            <a:off x="11285934" y="6458843"/>
            <a:ext cx="2299395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조건 확인 상태 ≠ 사람 검토 상태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13AB177A-4BAE-4920-968C-9946A96DA538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3721001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미확인 조건을 ‘조건 </a:t>
            </a:r>
            <a:r>
              <a:rPr lang="ko-KR" sz="1050" b="0" i="0" spc="0" dirty="0" err="1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없음’으로</a:t>
            </a:r>
            <a:r>
              <a:rPr lang="ko-KR" sz="1050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채우지 않습니다 · 비교 화면은 부록 A1</a:t>
            </a:r>
          </a:p>
        </p:txBody>
      </p:sp>
      <p:sp>
        <p:nvSpPr>
          <p:cNvPr id="22" name="html-text-21">
            <a:extLst>
              <a:ext uri="{FF2B5EF4-FFF2-40B4-BE49-F238E27FC236}">
                <a16:creationId xmlns:a16="http://schemas.microsoft.com/office/drawing/2014/main" id="{A25D1B05-2261-4409-94F7-5B49FC6C1FC7}"/>
              </a:ext>
            </a:extLst>
          </p:cNvPr>
          <p:cNvSpPr>
            <a:spLocks noGrp="1"/>
          </p:cNvSpPr>
          <p:nvPr/>
        </p:nvSpPr>
        <p:spPr>
          <a:xfrm>
            <a:off x="14132272" y="8131969"/>
            <a:ext cx="574328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53133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tml-0-slide active">
            <a:extLst>
              <a:ext uri="{FF2B5EF4-FFF2-40B4-BE49-F238E27FC236}">
                <a16:creationId xmlns:a16="http://schemas.microsoft.com/office/drawing/2014/main" id="{31F34B1F-1BEA-42B9-8B79-9622A5D6EE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F339FB96-CD4A-420B-A6F1-3095253713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E21BF1B6-3555-420C-8F25-6CDF4ADE9158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1530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차별화 방향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E5C6D2D3-D619-43A2-8B42-F031761223C3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3842891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공식 근거를 검토하며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DF66173E-A9C1-47CE-878A-B21357380530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6654403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조사표를 작성하는 업무에 집중합니다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9505E9E-E288-4497-964A-9FE506707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01027" y="2376864"/>
            <a:ext cx="5837946" cy="3285967"/>
          </a:xfrm>
          <a:prstGeom prst="rect">
            <a:avLst/>
          </a:prstGeom>
        </p:spPr>
      </p:pic>
      <p:sp>
        <p:nvSpPr>
          <p:cNvPr id="7" name="html-6-shape">
            <a:extLst>
              <a:ext uri="{FF2B5EF4-FFF2-40B4-BE49-F238E27FC236}">
                <a16:creationId xmlns:a16="http://schemas.microsoft.com/office/drawing/2014/main" id="{271EC23C-2AE4-4DE9-871D-3E62235F6477}"/>
              </a:ext>
            </a:extLst>
          </p:cNvPr>
          <p:cNvSpPr>
            <a:spLocks noGrp="1"/>
          </p:cNvSpPr>
          <p:nvPr/>
        </p:nvSpPr>
        <p:spPr>
          <a:xfrm>
            <a:off x="685800" y="5853410"/>
            <a:ext cx="6762750" cy="1362075"/>
          </a:xfrm>
          <a:prstGeom prst="rect">
            <a:avLst/>
          </a:prstGeom>
          <a:solidFill>
            <a:srgbClr val="F2F3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tml-7-border">
            <a:extLst>
              <a:ext uri="{FF2B5EF4-FFF2-40B4-BE49-F238E27FC236}">
                <a16:creationId xmlns:a16="http://schemas.microsoft.com/office/drawing/2014/main" id="{F992F9F8-4BEF-40C6-9E64-FFB1CC459F43}"/>
              </a:ext>
            </a:extLst>
          </p:cNvPr>
          <p:cNvSpPr>
            <a:spLocks noGrp="1"/>
          </p:cNvSpPr>
          <p:nvPr/>
        </p:nvSpPr>
        <p:spPr>
          <a:xfrm>
            <a:off x="685800" y="5853410"/>
            <a:ext cx="6762750" cy="38100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0F7FEC56-B1C6-41C9-822F-695293F979B2}"/>
              </a:ext>
            </a:extLst>
          </p:cNvPr>
          <p:cNvSpPr>
            <a:spLocks noGrp="1"/>
          </p:cNvSpPr>
          <p:nvPr/>
        </p:nvSpPr>
        <p:spPr>
          <a:xfrm>
            <a:off x="923925" y="6043910"/>
            <a:ext cx="2907357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상품 탐색 중심의 공개 서비스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EDC81E03-D4F8-4069-9B56-13BB401798CA}"/>
              </a:ext>
            </a:extLst>
          </p:cNvPr>
          <p:cNvSpPr>
            <a:spLocks noGrp="1"/>
          </p:cNvSpPr>
          <p:nvPr/>
        </p:nvSpPr>
        <p:spPr>
          <a:xfrm>
            <a:off x="923925" y="6434435"/>
            <a:ext cx="2481858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검색·혜택 탐색·상품 비교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2F6AF21D-F27E-49AC-978E-2A74BC0D30E7}"/>
              </a:ext>
            </a:extLst>
          </p:cNvPr>
          <p:cNvSpPr>
            <a:spLocks noGrp="1"/>
          </p:cNvSpPr>
          <p:nvPr/>
        </p:nvSpPr>
        <p:spPr>
          <a:xfrm>
            <a:off x="923925" y="6815435"/>
            <a:ext cx="2161133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관련 사례: 토스 카드라운지 등</a:t>
            </a:r>
          </a:p>
        </p:txBody>
      </p:sp>
      <p:sp>
        <p:nvSpPr>
          <p:cNvPr id="12" name="html-11-our-focus">
            <a:extLst>
              <a:ext uri="{FF2B5EF4-FFF2-40B4-BE49-F238E27FC236}">
                <a16:creationId xmlns:a16="http://schemas.microsoft.com/office/drawing/2014/main" id="{A2BCA568-A15A-4807-A81F-14E49931146C}"/>
              </a:ext>
            </a:extLst>
          </p:cNvPr>
          <p:cNvSpPr>
            <a:spLocks noGrp="1"/>
          </p:cNvSpPr>
          <p:nvPr/>
        </p:nvSpPr>
        <p:spPr>
          <a:xfrm>
            <a:off x="7791450" y="5853410"/>
            <a:ext cx="6762750" cy="1362075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tml-12-border">
            <a:extLst>
              <a:ext uri="{FF2B5EF4-FFF2-40B4-BE49-F238E27FC236}">
                <a16:creationId xmlns:a16="http://schemas.microsoft.com/office/drawing/2014/main" id="{7B4B0775-9F05-4775-9AE7-C5B1A3AE9721}"/>
              </a:ext>
            </a:extLst>
          </p:cNvPr>
          <p:cNvSpPr>
            <a:spLocks noGrp="1"/>
          </p:cNvSpPr>
          <p:nvPr/>
        </p:nvSpPr>
        <p:spPr>
          <a:xfrm>
            <a:off x="7791450" y="5853410"/>
            <a:ext cx="6762750" cy="3810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066C7686-D7DF-4FCB-982F-A0B9651B02B7}"/>
              </a:ext>
            </a:extLst>
          </p:cNvPr>
          <p:cNvSpPr>
            <a:spLocks noGrp="1"/>
          </p:cNvSpPr>
          <p:nvPr/>
        </p:nvSpPr>
        <p:spPr>
          <a:xfrm>
            <a:off x="8029575" y="6043910"/>
            <a:ext cx="2428131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950" b="1" i="0" spc="-38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본 프로젝트의 설계 초점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45B85111-BD3A-4A9D-ACFB-0CD4654F1B41}"/>
              </a:ext>
            </a:extLst>
          </p:cNvPr>
          <p:cNvSpPr>
            <a:spLocks noGrp="1"/>
          </p:cNvSpPr>
          <p:nvPr/>
        </p:nvSpPr>
        <p:spPr>
          <a:xfrm>
            <a:off x="8029575" y="6434435"/>
            <a:ext cx="3158579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0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근거 확인·수정·승인·CSV 조사표</a:t>
            </a:r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D3645BA0-4229-4748-8FB3-C59A11227E33}"/>
              </a:ext>
            </a:extLst>
          </p:cNvPr>
          <p:cNvSpPr>
            <a:spLocks noGrp="1"/>
          </p:cNvSpPr>
          <p:nvPr/>
        </p:nvSpPr>
        <p:spPr>
          <a:xfrm>
            <a:off x="8029575" y="6815435"/>
            <a:ext cx="2647652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국내 카드 조건 주석과 검수 흐름 설계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E89A317C-FA84-429A-895F-71F93DDCFC4B}"/>
              </a:ext>
            </a:extLst>
          </p:cNvPr>
          <p:cNvSpPr>
            <a:spLocks noGrp="1"/>
          </p:cNvSpPr>
          <p:nvPr/>
        </p:nvSpPr>
        <p:spPr>
          <a:xfrm>
            <a:off x="685800" y="7367885"/>
            <a:ext cx="5902226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CUAD·AWS 문서 추출 사례를 참고하여 카드 조건 구조와 평가 방법을 설계합니다.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015F4DF4-2091-4DB8-A9FE-B8131AABA8B2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3928467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기존 서비스의 미확인 기능 부재나 미검증 성능 우위를 주장하지 않습니다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77B161A7-09B7-4AF3-8EBD-4FD1030F7F6C}"/>
              </a:ext>
            </a:extLst>
          </p:cNvPr>
          <p:cNvSpPr>
            <a:spLocks noGrp="1"/>
          </p:cNvSpPr>
          <p:nvPr/>
        </p:nvSpPr>
        <p:spPr>
          <a:xfrm>
            <a:off x="14123045" y="8131969"/>
            <a:ext cx="583555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41165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tml-0-slide active">
            <a:extLst>
              <a:ext uri="{FF2B5EF4-FFF2-40B4-BE49-F238E27FC236}">
                <a16:creationId xmlns:a16="http://schemas.microsoft.com/office/drawing/2014/main" id="{0B566E90-2B00-481E-918B-A5592E9DBE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B0F98D72-2435-4184-B81F-B59A41AC51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BECCBB97-EACB-4DDB-A04A-5BDF747749AE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339304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시스템 아키텍처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FBD9A30F-540A-4270-8432-54AF739FE34A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6492478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Python 분석 모듈을 API로 연결하고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BCF9812F-A141-4238-A66D-1693E498EFFD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6654403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단일 서버에서 실행하도록 설계합니다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5405DA-E79B-45E1-8362-B4D6546D8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643015"/>
            <a:ext cx="9014371" cy="5072706"/>
          </a:xfrm>
          <a:prstGeom prst="rect">
            <a:avLst/>
          </a:prstGeom>
        </p:spPr>
      </p:pic>
      <p:sp>
        <p:nvSpPr>
          <p:cNvPr id="7" name="html-6-border">
            <a:extLst>
              <a:ext uri="{FF2B5EF4-FFF2-40B4-BE49-F238E27FC236}">
                <a16:creationId xmlns:a16="http://schemas.microsoft.com/office/drawing/2014/main" id="{9DF57730-863B-4C88-9C2D-69CAD76EC7FF}"/>
              </a:ext>
            </a:extLst>
          </p:cNvPr>
          <p:cNvSpPr>
            <a:spLocks noGrp="1"/>
          </p:cNvSpPr>
          <p:nvPr/>
        </p:nvSpPr>
        <p:spPr>
          <a:xfrm>
            <a:off x="10062121" y="4041130"/>
            <a:ext cx="4492079" cy="952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0EDEE663-3326-4FCC-8CB7-C5A54D711285}"/>
              </a:ext>
            </a:extLst>
          </p:cNvPr>
          <p:cNvSpPr>
            <a:spLocks noGrp="1"/>
          </p:cNvSpPr>
          <p:nvPr/>
        </p:nvSpPr>
        <p:spPr>
          <a:xfrm>
            <a:off x="10062121" y="3179118"/>
            <a:ext cx="2008436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React · TypeScript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65FC7699-1DFD-46E8-A16C-BC6EDF1229F1}"/>
              </a:ext>
            </a:extLst>
          </p:cNvPr>
          <p:cNvSpPr>
            <a:spLocks noGrp="1"/>
          </p:cNvSpPr>
          <p:nvPr/>
        </p:nvSpPr>
        <p:spPr>
          <a:xfrm>
            <a:off x="10062121" y="3579168"/>
            <a:ext cx="3824139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근거 보기·수정·비교의 화면과 데이터 형태 일치</a:t>
            </a:r>
          </a:p>
        </p:txBody>
      </p:sp>
      <p:sp>
        <p:nvSpPr>
          <p:cNvPr id="10" name="html-9-border">
            <a:extLst>
              <a:ext uri="{FF2B5EF4-FFF2-40B4-BE49-F238E27FC236}">
                <a16:creationId xmlns:a16="http://schemas.microsoft.com/office/drawing/2014/main" id="{DDE7A7D5-8BC5-4AE4-9100-0FAED8464300}"/>
              </a:ext>
            </a:extLst>
          </p:cNvPr>
          <p:cNvSpPr>
            <a:spLocks noGrp="1"/>
          </p:cNvSpPr>
          <p:nvPr/>
        </p:nvSpPr>
        <p:spPr>
          <a:xfrm>
            <a:off x="10062121" y="5074593"/>
            <a:ext cx="4492079" cy="952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BC829171-D5CF-4EA0-8BF2-6896233807E7}"/>
              </a:ext>
            </a:extLst>
          </p:cNvPr>
          <p:cNvSpPr>
            <a:spLocks noGrp="1"/>
          </p:cNvSpPr>
          <p:nvPr/>
        </p:nvSpPr>
        <p:spPr>
          <a:xfrm>
            <a:off x="10062121" y="4212580"/>
            <a:ext cx="1995041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FastAPI · Pydantic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43BDCA07-7F2A-4ABF-82F6-D9EBFCA900DC}"/>
              </a:ext>
            </a:extLst>
          </p:cNvPr>
          <p:cNvSpPr>
            <a:spLocks noGrp="1"/>
          </p:cNvSpPr>
          <p:nvPr/>
        </p:nvSpPr>
        <p:spPr>
          <a:xfrm>
            <a:off x="10062121" y="4612630"/>
            <a:ext cx="372234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Python 모델 직접 연결과 요청·응답 형식 검사</a:t>
            </a:r>
          </a:p>
        </p:txBody>
      </p:sp>
      <p:sp>
        <p:nvSpPr>
          <p:cNvPr id="13" name="html-12-border">
            <a:extLst>
              <a:ext uri="{FF2B5EF4-FFF2-40B4-BE49-F238E27FC236}">
                <a16:creationId xmlns:a16="http://schemas.microsoft.com/office/drawing/2014/main" id="{62FC970D-ECFB-4A99-8513-93CD6350078B}"/>
              </a:ext>
            </a:extLst>
          </p:cNvPr>
          <p:cNvSpPr>
            <a:spLocks noGrp="1"/>
          </p:cNvSpPr>
          <p:nvPr/>
        </p:nvSpPr>
        <p:spPr>
          <a:xfrm>
            <a:off x="10062121" y="6108055"/>
            <a:ext cx="4492079" cy="952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6816D7C7-FD75-45AB-92E7-1962F10F3450}"/>
              </a:ext>
            </a:extLst>
          </p:cNvPr>
          <p:cNvSpPr>
            <a:spLocks noGrp="1"/>
          </p:cNvSpPr>
          <p:nvPr/>
        </p:nvSpPr>
        <p:spPr>
          <a:xfrm>
            <a:off x="10062121" y="5246043"/>
            <a:ext cx="1730722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1" i="0" spc="-3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SQLite · Docker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F3486839-A484-47D3-A5EB-620ECFAB02F3}"/>
              </a:ext>
            </a:extLst>
          </p:cNvPr>
          <p:cNvSpPr>
            <a:spLocks noGrp="1"/>
          </p:cNvSpPr>
          <p:nvPr/>
        </p:nvSpPr>
        <p:spPr>
          <a:xfrm>
            <a:off x="10062121" y="5646093"/>
            <a:ext cx="341754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소규모 이력 저장과 설치·실행 절차 단순화</a:t>
            </a:r>
          </a:p>
        </p:txBody>
      </p:sp>
      <p:sp>
        <p:nvSpPr>
          <p:cNvPr id="16" name="html-15-design-note">
            <a:extLst>
              <a:ext uri="{FF2B5EF4-FFF2-40B4-BE49-F238E27FC236}">
                <a16:creationId xmlns:a16="http://schemas.microsoft.com/office/drawing/2014/main" id="{E70439E8-ADEA-479C-82C2-4029843C3D7B}"/>
              </a:ext>
            </a:extLst>
          </p:cNvPr>
          <p:cNvSpPr>
            <a:spLocks noGrp="1"/>
          </p:cNvSpPr>
          <p:nvPr/>
        </p:nvSpPr>
        <p:spPr>
          <a:xfrm>
            <a:off x="9965869" y="6308080"/>
            <a:ext cx="4492079" cy="842963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tml-16-border">
            <a:extLst>
              <a:ext uri="{FF2B5EF4-FFF2-40B4-BE49-F238E27FC236}">
                <a16:creationId xmlns:a16="http://schemas.microsoft.com/office/drawing/2014/main" id="{DD0DE626-6883-49FF-96FD-2A3517CDB015}"/>
              </a:ext>
            </a:extLst>
          </p:cNvPr>
          <p:cNvSpPr>
            <a:spLocks noGrp="1"/>
          </p:cNvSpPr>
          <p:nvPr/>
        </p:nvSpPr>
        <p:spPr>
          <a:xfrm>
            <a:off x="9979665" y="6308080"/>
            <a:ext cx="38100" cy="842963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8A711CF3-D648-45AB-89E5-9F00E7DFEA51}"/>
              </a:ext>
            </a:extLst>
          </p:cNvPr>
          <p:cNvSpPr>
            <a:spLocks noGrp="1"/>
          </p:cNvSpPr>
          <p:nvPr/>
        </p:nvSpPr>
        <p:spPr>
          <a:xfrm>
            <a:off x="10252621" y="6431905"/>
            <a:ext cx="2352973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CPU 추론과 제한된 동시 분석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CA2D22B8-8523-4B8B-8F49-2FABDF1093F7}"/>
              </a:ext>
            </a:extLst>
          </p:cNvPr>
          <p:cNvSpPr>
            <a:spLocks noGrp="1"/>
          </p:cNvSpPr>
          <p:nvPr/>
        </p:nvSpPr>
        <p:spPr>
          <a:xfrm>
            <a:off x="10252621" y="6736705"/>
            <a:ext cx="3351758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모델 재사용 · 작업 상태 관리 · 원래 예측 보존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36A600B6-8483-4A4C-9A0F-0ADF27F2F1FB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4341316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형식 검증은 금융 내용의 정확성을 보장하지 않습니다 · 기술 선택 상세는 부록 A2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4FA4C7FC-10F4-4C86-B028-35A462D68651}"/>
              </a:ext>
            </a:extLst>
          </p:cNvPr>
          <p:cNvSpPr>
            <a:spLocks noGrp="1"/>
          </p:cNvSpPr>
          <p:nvPr/>
        </p:nvSpPr>
        <p:spPr>
          <a:xfrm>
            <a:off x="14135844" y="8131969"/>
            <a:ext cx="570756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63604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html-0-slide active">
            <a:extLst>
              <a:ext uri="{FF2B5EF4-FFF2-40B4-BE49-F238E27FC236}">
                <a16:creationId xmlns:a16="http://schemas.microsoft.com/office/drawing/2014/main" id="{FFE53635-6C8E-41D2-AD3B-8C5CE9B302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0047B319-869F-4BDC-A334-FF6CA6B425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F4F65CEC-C92A-4399-9877-B1008648333D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7934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AI 모델 설계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C7D2EC63-DB80-43AF-A292-B321A63A9D4D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5108079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원문의 조건 구간을 추출하는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D3EA6A4D-A41F-4825-8CA4-4E6D8A30E445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5494734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소형 한국어 모델을 검토합니다</a:t>
            </a:r>
          </a:p>
        </p:txBody>
      </p:sp>
      <p:sp>
        <p:nvSpPr>
          <p:cNvPr id="6" name="html-text-5">
            <a:extLst>
              <a:ext uri="{FF2B5EF4-FFF2-40B4-BE49-F238E27FC236}">
                <a16:creationId xmlns:a16="http://schemas.microsoft.com/office/drawing/2014/main" id="{A260CA56-9D58-4009-AB6C-96B53007EAC1}"/>
              </a:ext>
            </a:extLst>
          </p:cNvPr>
          <p:cNvSpPr>
            <a:spLocks noGrp="1"/>
          </p:cNvSpPr>
          <p:nvPr/>
        </p:nvSpPr>
        <p:spPr>
          <a:xfrm>
            <a:off x="685800" y="2348210"/>
            <a:ext cx="1025723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초기 후보 </a:t>
            </a:r>
          </a:p>
        </p:txBody>
      </p:sp>
      <p:sp>
        <p:nvSpPr>
          <p:cNvPr id="7" name="html-text-6">
            <a:extLst>
              <a:ext uri="{FF2B5EF4-FFF2-40B4-BE49-F238E27FC236}">
                <a16:creationId xmlns:a16="http://schemas.microsoft.com/office/drawing/2014/main" id="{CFAE1961-3518-40D5-81F1-AC25D7885228}"/>
              </a:ext>
            </a:extLst>
          </p:cNvPr>
          <p:cNvSpPr>
            <a:spLocks noGrp="1"/>
          </p:cNvSpPr>
          <p:nvPr/>
        </p:nvSpPr>
        <p:spPr>
          <a:xfrm>
            <a:off x="1673423" y="2348210"/>
            <a:ext cx="189979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KoELECTRA-Small</a:t>
            </a: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AD0FC93E-DCE3-4CDD-9477-B050DA3C0534}"/>
              </a:ext>
            </a:extLst>
          </p:cNvPr>
          <p:cNvSpPr>
            <a:spLocks noGrp="1"/>
          </p:cNvSpPr>
          <p:nvPr/>
        </p:nvSpPr>
        <p:spPr>
          <a:xfrm>
            <a:off x="11156305" y="2348210"/>
            <a:ext cx="1025723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7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선정 기준 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C0FFB812-1400-49EB-9E09-7FB3E474B1CF}"/>
              </a:ext>
            </a:extLst>
          </p:cNvPr>
          <p:cNvSpPr>
            <a:spLocks noGrp="1"/>
          </p:cNvSpPr>
          <p:nvPr/>
        </p:nvSpPr>
        <p:spPr>
          <a:xfrm>
            <a:off x="12143929" y="2348210"/>
            <a:ext cx="256267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7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추출 F1 · CPU 시간 · 메모리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6CF5F5-F1A4-494B-BB7E-1B13C74D6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57533" y="2805918"/>
            <a:ext cx="8324934" cy="2951734"/>
          </a:xfrm>
          <a:prstGeom prst="rect">
            <a:avLst/>
          </a:prstGeom>
        </p:spPr>
      </p:pic>
      <p:sp>
        <p:nvSpPr>
          <p:cNvPr id="11" name="html-10-border">
            <a:extLst>
              <a:ext uri="{FF2B5EF4-FFF2-40B4-BE49-F238E27FC236}">
                <a16:creationId xmlns:a16="http://schemas.microsoft.com/office/drawing/2014/main" id="{E3181025-A970-4243-A4E4-55F493467D26}"/>
              </a:ext>
            </a:extLst>
          </p:cNvPr>
          <p:cNvSpPr>
            <a:spLocks noGrp="1"/>
          </p:cNvSpPr>
          <p:nvPr/>
        </p:nvSpPr>
        <p:spPr>
          <a:xfrm>
            <a:off x="762000" y="5920085"/>
            <a:ext cx="3590776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6FCFBBFA-9AD9-4166-8739-B0841993AD78}"/>
              </a:ext>
            </a:extLst>
          </p:cNvPr>
          <p:cNvSpPr>
            <a:spLocks noGrp="1"/>
          </p:cNvSpPr>
          <p:nvPr/>
        </p:nvSpPr>
        <p:spPr>
          <a:xfrm>
            <a:off x="762000" y="5996285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3C7FF7C1-CE83-4349-B418-A6CDFE85CC0F}"/>
              </a:ext>
            </a:extLst>
          </p:cNvPr>
          <p:cNvSpPr>
            <a:spLocks noGrp="1"/>
          </p:cNvSpPr>
          <p:nvPr/>
        </p:nvSpPr>
        <p:spPr>
          <a:xfrm>
            <a:off x="1209675" y="6234410"/>
            <a:ext cx="498574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태그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6CFF2B55-E8AB-4B21-B8C3-E042730E3592}"/>
              </a:ext>
            </a:extLst>
          </p:cNvPr>
          <p:cNvSpPr>
            <a:spLocks noGrp="1"/>
          </p:cNvSpPr>
          <p:nvPr/>
        </p:nvSpPr>
        <p:spPr>
          <a:xfrm>
            <a:off x="762000" y="6601123"/>
            <a:ext cx="136177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6유형의 B/I + O</a:t>
            </a:r>
          </a:p>
        </p:txBody>
      </p:sp>
      <p:sp>
        <p:nvSpPr>
          <p:cNvPr id="15" name="html-14-border">
            <a:extLst>
              <a:ext uri="{FF2B5EF4-FFF2-40B4-BE49-F238E27FC236}">
                <a16:creationId xmlns:a16="http://schemas.microsoft.com/office/drawing/2014/main" id="{0E8C8586-F031-4A0F-A92D-D9975B0424EF}"/>
              </a:ext>
            </a:extLst>
          </p:cNvPr>
          <p:cNvSpPr>
            <a:spLocks noGrp="1"/>
          </p:cNvSpPr>
          <p:nvPr/>
        </p:nvSpPr>
        <p:spPr>
          <a:xfrm>
            <a:off x="4657576" y="5920085"/>
            <a:ext cx="3590776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041AF5BB-C1E1-41FE-88B0-CA3593544447}"/>
              </a:ext>
            </a:extLst>
          </p:cNvPr>
          <p:cNvSpPr>
            <a:spLocks noGrp="1"/>
          </p:cNvSpPr>
          <p:nvPr/>
        </p:nvSpPr>
        <p:spPr>
          <a:xfrm>
            <a:off x="4657576" y="5996285"/>
            <a:ext cx="827633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3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C2EB1306-DBA3-4132-A4D9-C468470C89E6}"/>
              </a:ext>
            </a:extLst>
          </p:cNvPr>
          <p:cNvSpPr>
            <a:spLocks noGrp="1"/>
          </p:cNvSpPr>
          <p:nvPr/>
        </p:nvSpPr>
        <p:spPr>
          <a:xfrm>
            <a:off x="5409009" y="6234410"/>
            <a:ext cx="498574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토큰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E010746F-6BCE-45F8-83F0-C2C7FA7179EC}"/>
              </a:ext>
            </a:extLst>
          </p:cNvPr>
          <p:cNvSpPr>
            <a:spLocks noGrp="1"/>
          </p:cNvSpPr>
          <p:nvPr/>
        </p:nvSpPr>
        <p:spPr>
          <a:xfrm>
            <a:off x="4657576" y="6601123"/>
            <a:ext cx="2323356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입력 길이 기준 · 초과 시 분할</a:t>
            </a:r>
          </a:p>
        </p:txBody>
      </p:sp>
      <p:sp>
        <p:nvSpPr>
          <p:cNvPr id="19" name="html-18-border">
            <a:extLst>
              <a:ext uri="{FF2B5EF4-FFF2-40B4-BE49-F238E27FC236}">
                <a16:creationId xmlns:a16="http://schemas.microsoft.com/office/drawing/2014/main" id="{041F1FAC-35D6-4099-8DC1-C180337DF719}"/>
              </a:ext>
            </a:extLst>
          </p:cNvPr>
          <p:cNvSpPr>
            <a:spLocks noGrp="1"/>
          </p:cNvSpPr>
          <p:nvPr/>
        </p:nvSpPr>
        <p:spPr>
          <a:xfrm>
            <a:off x="8553152" y="5920085"/>
            <a:ext cx="5924848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95E626E0-F542-4F83-AE06-81EE86976CE7}"/>
              </a:ext>
            </a:extLst>
          </p:cNvPr>
          <p:cNvSpPr>
            <a:spLocks noGrp="1"/>
          </p:cNvSpPr>
          <p:nvPr/>
        </p:nvSpPr>
        <p:spPr>
          <a:xfrm>
            <a:off x="8553152" y="6108650"/>
            <a:ext cx="2825204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75" b="1" i="0" spc="-38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유형 · 원문 값 · 문자 위치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766FB612-6E98-406F-A37F-86DF1CEF42D0}"/>
              </a:ext>
            </a:extLst>
          </p:cNvPr>
          <p:cNvSpPr>
            <a:spLocks noGrp="1"/>
          </p:cNvSpPr>
          <p:nvPr/>
        </p:nvSpPr>
        <p:spPr>
          <a:xfrm>
            <a:off x="8553152" y="6517184"/>
            <a:ext cx="2495104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근거 구간을 보존하는 출력 구조</a:t>
            </a:r>
          </a:p>
        </p:txBody>
      </p:sp>
      <p:sp>
        <p:nvSpPr>
          <p:cNvPr id="22" name="html-21-responsibility-strip">
            <a:extLst>
              <a:ext uri="{FF2B5EF4-FFF2-40B4-BE49-F238E27FC236}">
                <a16:creationId xmlns:a16="http://schemas.microsoft.com/office/drawing/2014/main" id="{FEB8D336-573A-4253-A52A-9FF3F77DA256}"/>
              </a:ext>
            </a:extLst>
          </p:cNvPr>
          <p:cNvSpPr>
            <a:spLocks noGrp="1"/>
          </p:cNvSpPr>
          <p:nvPr/>
        </p:nvSpPr>
        <p:spPr>
          <a:xfrm>
            <a:off x="685800" y="7020223"/>
            <a:ext cx="13868400" cy="561975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tml-text-22">
            <a:extLst>
              <a:ext uri="{FF2B5EF4-FFF2-40B4-BE49-F238E27FC236}">
                <a16:creationId xmlns:a16="http://schemas.microsoft.com/office/drawing/2014/main" id="{66A2F187-EF5A-4B85-BFF9-16182D4FABAC}"/>
              </a:ext>
            </a:extLst>
          </p:cNvPr>
          <p:cNvSpPr>
            <a:spLocks noGrp="1"/>
          </p:cNvSpPr>
          <p:nvPr/>
        </p:nvSpPr>
        <p:spPr>
          <a:xfrm>
            <a:off x="914400" y="7163098"/>
            <a:ext cx="498574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1" i="0" spc="0" dirty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모델</a:t>
            </a:r>
          </a:p>
        </p:txBody>
      </p:sp>
      <p:sp>
        <p:nvSpPr>
          <p:cNvPr id="24" name="html-text-23">
            <a:extLst>
              <a:ext uri="{FF2B5EF4-FFF2-40B4-BE49-F238E27FC236}">
                <a16:creationId xmlns:a16="http://schemas.microsoft.com/office/drawing/2014/main" id="{9F5B3DFA-9E55-42B8-8337-195210F0EDAF}"/>
              </a:ext>
            </a:extLst>
          </p:cNvPr>
          <p:cNvSpPr>
            <a:spLocks noGrp="1"/>
          </p:cNvSpPr>
          <p:nvPr/>
        </p:nvSpPr>
        <p:spPr>
          <a:xfrm>
            <a:off x="1336774" y="7163098"/>
            <a:ext cx="1348383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조건 구간 추출</a:t>
            </a:r>
          </a:p>
        </p:txBody>
      </p:sp>
      <p:sp>
        <p:nvSpPr>
          <p:cNvPr id="25" name="html-text-24">
            <a:extLst>
              <a:ext uri="{FF2B5EF4-FFF2-40B4-BE49-F238E27FC236}">
                <a16:creationId xmlns:a16="http://schemas.microsoft.com/office/drawing/2014/main" id="{70506A63-5D88-4118-A606-F207C53ADE9E}"/>
              </a:ext>
            </a:extLst>
          </p:cNvPr>
          <p:cNvSpPr>
            <a:spLocks noGrp="1"/>
          </p:cNvSpPr>
          <p:nvPr/>
        </p:nvSpPr>
        <p:spPr>
          <a:xfrm>
            <a:off x="6257479" y="7163098"/>
            <a:ext cx="498574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규칙</a:t>
            </a:r>
          </a:p>
        </p:txBody>
      </p:sp>
      <p:sp>
        <p:nvSpPr>
          <p:cNvPr id="26" name="html-text-25">
            <a:extLst>
              <a:ext uri="{FF2B5EF4-FFF2-40B4-BE49-F238E27FC236}">
                <a16:creationId xmlns:a16="http://schemas.microsoft.com/office/drawing/2014/main" id="{07D27A2D-51BA-41CC-B923-ABDE35B66A66}"/>
              </a:ext>
            </a:extLst>
          </p:cNvPr>
          <p:cNvSpPr>
            <a:spLocks noGrp="1"/>
          </p:cNvSpPr>
          <p:nvPr/>
        </p:nvSpPr>
        <p:spPr>
          <a:xfrm>
            <a:off x="6679853" y="7163098"/>
            <a:ext cx="170244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정규화·명시적 연결</a:t>
            </a:r>
          </a:p>
        </p:txBody>
      </p:sp>
      <p:sp>
        <p:nvSpPr>
          <p:cNvPr id="27" name="html-text-26">
            <a:extLst>
              <a:ext uri="{FF2B5EF4-FFF2-40B4-BE49-F238E27FC236}">
                <a16:creationId xmlns:a16="http://schemas.microsoft.com/office/drawing/2014/main" id="{2D74AF16-DEF6-4FD2-9473-D20094467A48}"/>
              </a:ext>
            </a:extLst>
          </p:cNvPr>
          <p:cNvSpPr>
            <a:spLocks noGrp="1"/>
          </p:cNvSpPr>
          <p:nvPr/>
        </p:nvSpPr>
        <p:spPr>
          <a:xfrm>
            <a:off x="11954470" y="7163098"/>
            <a:ext cx="498574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사람</a:t>
            </a:r>
          </a:p>
        </p:txBody>
      </p:sp>
      <p:sp>
        <p:nvSpPr>
          <p:cNvPr id="28" name="html-text-27">
            <a:extLst>
              <a:ext uri="{FF2B5EF4-FFF2-40B4-BE49-F238E27FC236}">
                <a16:creationId xmlns:a16="http://schemas.microsoft.com/office/drawing/2014/main" id="{2886A04D-CE25-41A3-9297-2B7DDFAC8367}"/>
              </a:ext>
            </a:extLst>
          </p:cNvPr>
          <p:cNvSpPr>
            <a:spLocks noGrp="1"/>
          </p:cNvSpPr>
          <p:nvPr/>
        </p:nvSpPr>
        <p:spPr>
          <a:xfrm>
            <a:off x="12376845" y="7163098"/>
            <a:ext cx="210115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불명확한 관계 검토·승인</a:t>
            </a:r>
          </a:p>
        </p:txBody>
      </p:sp>
      <p:sp>
        <p:nvSpPr>
          <p:cNvPr id="29" name="html-text-28">
            <a:extLst>
              <a:ext uri="{FF2B5EF4-FFF2-40B4-BE49-F238E27FC236}">
                <a16:creationId xmlns:a16="http://schemas.microsoft.com/office/drawing/2014/main" id="{F09C4BAB-ECCA-4B5B-B520-A5776CC68D74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3808363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모델은 미확정 후보 · 공유 한도와 조건 소속을 모두 자동 판단하지 않음</a:t>
            </a:r>
          </a:p>
        </p:txBody>
      </p:sp>
      <p:sp>
        <p:nvSpPr>
          <p:cNvPr id="30" name="html-text-29">
            <a:extLst>
              <a:ext uri="{FF2B5EF4-FFF2-40B4-BE49-F238E27FC236}">
                <a16:creationId xmlns:a16="http://schemas.microsoft.com/office/drawing/2014/main" id="{21CD7DC6-05CB-4E2A-BCA5-A46EF5203EFF}"/>
              </a:ext>
            </a:extLst>
          </p:cNvPr>
          <p:cNvSpPr>
            <a:spLocks noGrp="1"/>
          </p:cNvSpPr>
          <p:nvPr/>
        </p:nvSpPr>
        <p:spPr>
          <a:xfrm>
            <a:off x="14120664" y="8131969"/>
            <a:ext cx="585936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55901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html-0-slide active">
            <a:extLst>
              <a:ext uri="{FF2B5EF4-FFF2-40B4-BE49-F238E27FC236}">
                <a16:creationId xmlns:a16="http://schemas.microsoft.com/office/drawing/2014/main" id="{E55846C3-E5F4-45DC-9B3D-79B4D0D753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3D2C5DD1-D372-4CB4-8201-EC3F42FE2B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79329564-7DF5-4D38-908F-D7E1267BF32D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1530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데이터 구축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D3CEF260-65DE-4CE4-9990-4FE83B750F53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5108079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문맥과 원문 위치를 보존하고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9C6D0BF9-ADD4-41A3-B329-E1E9FA085E72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6778675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상품군 단위로 학습·시험을 분리합니다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1653E3-8BD4-4287-A31A-77A9367C8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946769"/>
            <a:ext cx="7488882" cy="2907264"/>
          </a:xfrm>
          <a:prstGeom prst="rect">
            <a:avLst/>
          </a:prstGeom>
        </p:spPr>
      </p:pic>
      <p:sp>
        <p:nvSpPr>
          <p:cNvPr id="7" name="html-6-border">
            <a:extLst>
              <a:ext uri="{FF2B5EF4-FFF2-40B4-BE49-F238E27FC236}">
                <a16:creationId xmlns:a16="http://schemas.microsoft.com/office/drawing/2014/main" id="{18234BEA-0A0C-4CA6-9DD3-49DF9618EE1B}"/>
              </a:ext>
            </a:extLst>
          </p:cNvPr>
          <p:cNvSpPr>
            <a:spLocks noGrp="1"/>
          </p:cNvSpPr>
          <p:nvPr/>
        </p:nvSpPr>
        <p:spPr>
          <a:xfrm>
            <a:off x="685800" y="6172051"/>
            <a:ext cx="3649117" cy="2857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42F68D53-2A30-4437-8768-9C99D4766A98}"/>
              </a:ext>
            </a:extLst>
          </p:cNvPr>
          <p:cNvSpPr>
            <a:spLocks noGrp="1"/>
          </p:cNvSpPr>
          <p:nvPr/>
        </p:nvSpPr>
        <p:spPr>
          <a:xfrm>
            <a:off x="685800" y="6276826"/>
            <a:ext cx="1956941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250~400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4B731DDD-45EE-45E9-99BE-6D0C221D6C30}"/>
              </a:ext>
            </a:extLst>
          </p:cNvPr>
          <p:cNvSpPr>
            <a:spLocks noGrp="1"/>
          </p:cNvSpPr>
          <p:nvPr/>
        </p:nvSpPr>
        <p:spPr>
          <a:xfrm>
            <a:off x="685800" y="6905476"/>
            <a:ext cx="2093119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전체 주석 블록 제작 목표</a:t>
            </a:r>
          </a:p>
        </p:txBody>
      </p:sp>
      <p:sp>
        <p:nvSpPr>
          <p:cNvPr id="10" name="html-9-border">
            <a:extLst>
              <a:ext uri="{FF2B5EF4-FFF2-40B4-BE49-F238E27FC236}">
                <a16:creationId xmlns:a16="http://schemas.microsoft.com/office/drawing/2014/main" id="{E7630E93-9E99-4FE7-BD87-D05E425945A7}"/>
              </a:ext>
            </a:extLst>
          </p:cNvPr>
          <p:cNvSpPr>
            <a:spLocks noGrp="1"/>
          </p:cNvSpPr>
          <p:nvPr/>
        </p:nvSpPr>
        <p:spPr>
          <a:xfrm>
            <a:off x="4525417" y="6172051"/>
            <a:ext cx="3649266" cy="2857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89F67BAC-6C70-4F9F-AB6C-BBDFE88AC3D3}"/>
              </a:ext>
            </a:extLst>
          </p:cNvPr>
          <p:cNvSpPr>
            <a:spLocks noGrp="1"/>
          </p:cNvSpPr>
          <p:nvPr/>
        </p:nvSpPr>
        <p:spPr>
          <a:xfrm>
            <a:off x="4525417" y="6276826"/>
            <a:ext cx="1423988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525" b="1" i="0" spc="-11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30~50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0F00F06F-B96C-493A-8115-9210C54A40D6}"/>
              </a:ext>
            </a:extLst>
          </p:cNvPr>
          <p:cNvSpPr>
            <a:spLocks noGrp="1"/>
          </p:cNvSpPr>
          <p:nvPr/>
        </p:nvSpPr>
        <p:spPr>
          <a:xfrm>
            <a:off x="4525417" y="6905476"/>
            <a:ext cx="210115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초기 이중 주석·기준 조정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47C7CD4E-17B0-46C7-A805-BA53E3EC0B3D}"/>
              </a:ext>
            </a:extLst>
          </p:cNvPr>
          <p:cNvSpPr>
            <a:spLocks noGrp="1"/>
          </p:cNvSpPr>
          <p:nvPr/>
        </p:nvSpPr>
        <p:spPr>
          <a:xfrm>
            <a:off x="685800" y="7315051"/>
            <a:ext cx="382845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유형별 사례 수·반복 문구·주석 불일치를 확인합니다.</a:t>
            </a:r>
          </a:p>
        </p:txBody>
      </p:sp>
      <p:sp>
        <p:nvSpPr>
          <p:cNvPr id="14" name="html-13-data-right">
            <a:extLst>
              <a:ext uri="{FF2B5EF4-FFF2-40B4-BE49-F238E27FC236}">
                <a16:creationId xmlns:a16="http://schemas.microsoft.com/office/drawing/2014/main" id="{3203A834-DA68-46A6-A5AB-6A227154A5F9}"/>
              </a:ext>
            </a:extLst>
          </p:cNvPr>
          <p:cNvSpPr>
            <a:spLocks noGrp="1"/>
          </p:cNvSpPr>
          <p:nvPr/>
        </p:nvSpPr>
        <p:spPr>
          <a:xfrm>
            <a:off x="8650932" y="2376785"/>
            <a:ext cx="5903268" cy="5605165"/>
          </a:xfrm>
          <a:prstGeom prst="rect">
            <a:avLst/>
          </a:prstGeom>
          <a:solidFill>
            <a:srgbClr val="F5F6F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F7DC8DE-3FD8-44A4-AFF8-F2B143ED4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22382" y="2914855"/>
            <a:ext cx="5560368" cy="3128849"/>
          </a:xfrm>
          <a:prstGeom prst="rect">
            <a:avLst/>
          </a:prstGeom>
        </p:spPr>
      </p:pic>
      <p:sp>
        <p:nvSpPr>
          <p:cNvPr id="16" name="html-text-15">
            <a:extLst>
              <a:ext uri="{FF2B5EF4-FFF2-40B4-BE49-F238E27FC236}">
                <a16:creationId xmlns:a16="http://schemas.microsoft.com/office/drawing/2014/main" id="{4E380BC0-5205-41DE-8B05-68E80B347753}"/>
              </a:ext>
            </a:extLst>
          </p:cNvPr>
          <p:cNvSpPr>
            <a:spLocks noGrp="1"/>
          </p:cNvSpPr>
          <p:nvPr/>
        </p:nvSpPr>
        <p:spPr>
          <a:xfrm>
            <a:off x="9395817" y="6217593"/>
            <a:ext cx="397966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528F57E5-9BB4-4BFA-88EF-76C0D5C98F80}"/>
              </a:ext>
            </a:extLst>
          </p:cNvPr>
          <p:cNvSpPr>
            <a:spLocks noGrp="1"/>
          </p:cNvSpPr>
          <p:nvPr/>
        </p:nvSpPr>
        <p:spPr>
          <a:xfrm>
            <a:off x="9736634" y="6474768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학습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2EA8105E-06C8-4488-B7C2-3584DC46C762}"/>
              </a:ext>
            </a:extLst>
          </p:cNvPr>
          <p:cNvSpPr>
            <a:spLocks noGrp="1"/>
          </p:cNvSpPr>
          <p:nvPr/>
        </p:nvSpPr>
        <p:spPr>
          <a:xfrm>
            <a:off x="11246197" y="6217593"/>
            <a:ext cx="40258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613D3FD0-8FBA-4D4A-95BC-FF233FDEF463}"/>
              </a:ext>
            </a:extLst>
          </p:cNvPr>
          <p:cNvSpPr>
            <a:spLocks noGrp="1"/>
          </p:cNvSpPr>
          <p:nvPr/>
        </p:nvSpPr>
        <p:spPr>
          <a:xfrm>
            <a:off x="11591627" y="6474768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5AD5995D-0676-4643-AE13-F2F816E9D07A}"/>
              </a:ext>
            </a:extLst>
          </p:cNvPr>
          <p:cNvSpPr>
            <a:spLocks noGrp="1"/>
          </p:cNvSpPr>
          <p:nvPr/>
        </p:nvSpPr>
        <p:spPr>
          <a:xfrm>
            <a:off x="13101191" y="6217593"/>
            <a:ext cx="40258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28B80D9B-3839-4F2E-B3FC-949C6817F0CF}"/>
              </a:ext>
            </a:extLst>
          </p:cNvPr>
          <p:cNvSpPr>
            <a:spLocks noGrp="1"/>
          </p:cNvSpPr>
          <p:nvPr/>
        </p:nvSpPr>
        <p:spPr>
          <a:xfrm>
            <a:off x="13446621" y="6474768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시험</a:t>
            </a:r>
          </a:p>
        </p:txBody>
      </p:sp>
      <p:sp>
        <p:nvSpPr>
          <p:cNvPr id="22" name="html-text-21">
            <a:extLst>
              <a:ext uri="{FF2B5EF4-FFF2-40B4-BE49-F238E27FC236}">
                <a16:creationId xmlns:a16="http://schemas.microsoft.com/office/drawing/2014/main" id="{2341352F-9203-4DE2-BD16-D77EA62885FC}"/>
              </a:ext>
            </a:extLst>
          </p:cNvPr>
          <p:cNvSpPr>
            <a:spLocks noGrp="1"/>
          </p:cNvSpPr>
          <p:nvPr/>
        </p:nvSpPr>
        <p:spPr>
          <a:xfrm>
            <a:off x="10174635" y="6979593"/>
            <a:ext cx="3008263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같은 상품의 HTML·PDF·개정 문서는</a:t>
            </a:r>
          </a:p>
        </p:txBody>
      </p:sp>
      <p:sp>
        <p:nvSpPr>
          <p:cNvPr id="23" name="html-text-22">
            <a:extLst>
              <a:ext uri="{FF2B5EF4-FFF2-40B4-BE49-F238E27FC236}">
                <a16:creationId xmlns:a16="http://schemas.microsoft.com/office/drawing/2014/main" id="{59C11DB4-DD8B-4A40-BAA7-5E4139F4ECC3}"/>
              </a:ext>
            </a:extLst>
          </p:cNvPr>
          <p:cNvSpPr>
            <a:spLocks noGrp="1"/>
          </p:cNvSpPr>
          <p:nvPr/>
        </p:nvSpPr>
        <p:spPr>
          <a:xfrm>
            <a:off x="10662196" y="7279630"/>
            <a:ext cx="897136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같은 집합</a:t>
            </a:r>
          </a:p>
        </p:txBody>
      </p:sp>
      <p:sp>
        <p:nvSpPr>
          <p:cNvPr id="24" name="html-text-23">
            <a:extLst>
              <a:ext uri="{FF2B5EF4-FFF2-40B4-BE49-F238E27FC236}">
                <a16:creationId xmlns:a16="http://schemas.microsoft.com/office/drawing/2014/main" id="{1BBDB1B4-1F4B-4C49-B729-E548A112D93C}"/>
              </a:ext>
            </a:extLst>
          </p:cNvPr>
          <p:cNvSpPr>
            <a:spLocks noGrp="1"/>
          </p:cNvSpPr>
          <p:nvPr/>
        </p:nvSpPr>
        <p:spPr>
          <a:xfrm>
            <a:off x="11406932" y="7279630"/>
            <a:ext cx="128840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에 배정합니다.</a:t>
            </a:r>
          </a:p>
        </p:txBody>
      </p:sp>
      <p:sp>
        <p:nvSpPr>
          <p:cNvPr id="25" name="html-text-24">
            <a:extLst>
              <a:ext uri="{FF2B5EF4-FFF2-40B4-BE49-F238E27FC236}">
                <a16:creationId xmlns:a16="http://schemas.microsoft.com/office/drawing/2014/main" id="{9130C65B-0FEE-4E32-8F18-29FC79E85B95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4612332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모든 수량은 제작·분할 계획 · 시험 3상품군의 결과를 카드시장 전체로 일반화하지 않음</a:t>
            </a:r>
          </a:p>
        </p:txBody>
      </p:sp>
      <p:sp>
        <p:nvSpPr>
          <p:cNvPr id="26" name="html-text-25">
            <a:extLst>
              <a:ext uri="{FF2B5EF4-FFF2-40B4-BE49-F238E27FC236}">
                <a16:creationId xmlns:a16="http://schemas.microsoft.com/office/drawing/2014/main" id="{2DA0080A-A04D-41A8-A724-ED154C498380}"/>
              </a:ext>
            </a:extLst>
          </p:cNvPr>
          <p:cNvSpPr>
            <a:spLocks noGrp="1"/>
          </p:cNvSpPr>
          <p:nvPr/>
        </p:nvSpPr>
        <p:spPr>
          <a:xfrm>
            <a:off x="14123789" y="8131969"/>
            <a:ext cx="582811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3701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html-0-slide active">
            <a:extLst>
              <a:ext uri="{FF2B5EF4-FFF2-40B4-BE49-F238E27FC236}">
                <a16:creationId xmlns:a16="http://schemas.microsoft.com/office/drawing/2014/main" id="{C4169ACA-0F8F-418D-A897-ABC6FB7873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C91225F9-A235-40BC-BD0C-2E2C7C908A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742C5270-E91C-4C84-88BF-A61545B80CE4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1530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정량적 검증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446104E9-B958-4C22-80D8-8D9D14A4529F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4229398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같은 입력과 후처리에서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8CF31E89-5960-4AAE-936B-BE8DBD132EC2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5108079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규칙 기반 방법과 비교합니다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102721-4F08-47FE-9421-09CEDD134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3415" y="2697261"/>
            <a:ext cx="6937849" cy="3905152"/>
          </a:xfrm>
          <a:prstGeom prst="rect">
            <a:avLst/>
          </a:prstGeom>
        </p:spPr>
      </p:pic>
      <p:sp>
        <p:nvSpPr>
          <p:cNvPr id="7" name="html-6-border">
            <a:extLst>
              <a:ext uri="{FF2B5EF4-FFF2-40B4-BE49-F238E27FC236}">
                <a16:creationId xmlns:a16="http://schemas.microsoft.com/office/drawing/2014/main" id="{DAD0F663-5E9D-42D5-A76B-36ED85171294}"/>
              </a:ext>
            </a:extLst>
          </p:cNvPr>
          <p:cNvSpPr>
            <a:spLocks noGrp="1"/>
          </p:cNvSpPr>
          <p:nvPr/>
        </p:nvSpPr>
        <p:spPr>
          <a:xfrm>
            <a:off x="685800" y="6716762"/>
            <a:ext cx="9153079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BA7966DF-A3E1-47FF-88E6-F0814E21C841}"/>
              </a:ext>
            </a:extLst>
          </p:cNvPr>
          <p:cNvSpPr>
            <a:spLocks noGrp="1"/>
          </p:cNvSpPr>
          <p:nvPr/>
        </p:nvSpPr>
        <p:spPr>
          <a:xfrm>
            <a:off x="685800" y="6945362"/>
            <a:ext cx="93255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추출 성능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A471D701-5180-4D56-8647-57C249D8AB77}"/>
              </a:ext>
            </a:extLst>
          </p:cNvPr>
          <p:cNvSpPr>
            <a:spLocks noGrp="1"/>
          </p:cNvSpPr>
          <p:nvPr/>
        </p:nvSpPr>
        <p:spPr>
          <a:xfrm>
            <a:off x="1599307" y="6945362"/>
            <a:ext cx="320203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유형과 원문 구간이 모두 맞아야 정답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44D846F8-AEB9-40CC-92B4-DB3C7AD1F59B}"/>
              </a:ext>
            </a:extLst>
          </p:cNvPr>
          <p:cNvSpPr>
            <a:spLocks noGrp="1"/>
          </p:cNvSpPr>
          <p:nvPr/>
        </p:nvSpPr>
        <p:spPr>
          <a:xfrm>
            <a:off x="685800" y="7322493"/>
            <a:ext cx="93255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업무 효과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97E22537-4C69-41AF-AD6A-58083BDA9630}"/>
              </a:ext>
            </a:extLst>
          </p:cNvPr>
          <p:cNvSpPr>
            <a:spLocks noGrp="1"/>
          </p:cNvSpPr>
          <p:nvPr/>
        </p:nvSpPr>
        <p:spPr>
          <a:xfrm>
            <a:off x="1599307" y="7322493"/>
            <a:ext cx="321885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채움률·중요 오류·검수시간 함께 측정</a:t>
            </a:r>
          </a:p>
        </p:txBody>
      </p:sp>
      <p:sp>
        <p:nvSpPr>
          <p:cNvPr id="12" name="html-11-border">
            <a:extLst>
              <a:ext uri="{FF2B5EF4-FFF2-40B4-BE49-F238E27FC236}">
                <a16:creationId xmlns:a16="http://schemas.microsoft.com/office/drawing/2014/main" id="{5B0FEB9A-2902-47DC-974B-B4E2DE82070E}"/>
              </a:ext>
            </a:extLst>
          </p:cNvPr>
          <p:cNvSpPr>
            <a:spLocks noGrp="1"/>
          </p:cNvSpPr>
          <p:nvPr/>
        </p:nvSpPr>
        <p:spPr>
          <a:xfrm>
            <a:off x="10267504" y="2376785"/>
            <a:ext cx="9525" cy="560516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5D955B0C-01FE-4735-92D2-4EA2E83E4059}"/>
              </a:ext>
            </a:extLst>
          </p:cNvPr>
          <p:cNvSpPr>
            <a:spLocks noGrp="1"/>
          </p:cNvSpPr>
          <p:nvPr/>
        </p:nvSpPr>
        <p:spPr>
          <a:xfrm>
            <a:off x="10610404" y="2857351"/>
            <a:ext cx="2010668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개발 목표 · 실측 결과 아님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FEF7BEBB-ABAE-4C81-9332-B016967038C7}"/>
              </a:ext>
            </a:extLst>
          </p:cNvPr>
          <p:cNvSpPr>
            <a:spLocks noGrp="1"/>
          </p:cNvSpPr>
          <p:nvPr/>
        </p:nvSpPr>
        <p:spPr>
          <a:xfrm>
            <a:off x="10610404" y="3238351"/>
            <a:ext cx="1767334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Strict Span Micro-F1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2C90BB10-652A-425C-9F5C-6BE6E1885EF3}"/>
              </a:ext>
            </a:extLst>
          </p:cNvPr>
          <p:cNvSpPr>
            <a:spLocks noGrp="1"/>
          </p:cNvSpPr>
          <p:nvPr/>
        </p:nvSpPr>
        <p:spPr>
          <a:xfrm>
            <a:off x="10610404" y="3409801"/>
            <a:ext cx="1857821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≥ 0.80</a:t>
            </a:r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205A2D0B-666A-4F41-9FFB-4131F655E680}"/>
              </a:ext>
            </a:extLst>
          </p:cNvPr>
          <p:cNvSpPr>
            <a:spLocks noGrp="1"/>
          </p:cNvSpPr>
          <p:nvPr/>
        </p:nvSpPr>
        <p:spPr>
          <a:xfrm>
            <a:off x="10610404" y="4327922"/>
            <a:ext cx="2488257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규칙 대비 절대 차이 · 도전 목표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A6126102-C4E7-4D63-87C4-A15A2F0BC6BD}"/>
              </a:ext>
            </a:extLst>
          </p:cNvPr>
          <p:cNvSpPr>
            <a:spLocks noGrp="1"/>
          </p:cNvSpPr>
          <p:nvPr/>
        </p:nvSpPr>
        <p:spPr>
          <a:xfrm>
            <a:off x="10610404" y="4499372"/>
            <a:ext cx="754410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+3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4DFC7616-C301-4CDC-82BA-F8B6841FB0B9}"/>
              </a:ext>
            </a:extLst>
          </p:cNvPr>
          <p:cNvSpPr>
            <a:spLocks noGrp="1"/>
          </p:cNvSpPr>
          <p:nvPr/>
        </p:nvSpPr>
        <p:spPr>
          <a:xfrm>
            <a:off x="11269563" y="4842272"/>
            <a:ext cx="538311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%p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57FF00D6-F8C8-4BAF-A89E-259A6BCAF2CB}"/>
              </a:ext>
            </a:extLst>
          </p:cNvPr>
          <p:cNvSpPr>
            <a:spLocks noGrp="1"/>
          </p:cNvSpPr>
          <p:nvPr/>
        </p:nvSpPr>
        <p:spPr>
          <a:xfrm>
            <a:off x="10610404" y="5417493"/>
            <a:ext cx="193417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CPU 블록 처리시간 p95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210D362D-43D5-45DD-9B9F-E8EABEFEEA2B}"/>
              </a:ext>
            </a:extLst>
          </p:cNvPr>
          <p:cNvSpPr>
            <a:spLocks noGrp="1"/>
          </p:cNvSpPr>
          <p:nvPr/>
        </p:nvSpPr>
        <p:spPr>
          <a:xfrm>
            <a:off x="10610404" y="5588943"/>
            <a:ext cx="915888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4800" b="1" i="0" spc="-15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≤ 5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490430C0-FEF8-447A-BE79-D620CE0F28FC}"/>
              </a:ext>
            </a:extLst>
          </p:cNvPr>
          <p:cNvSpPr>
            <a:spLocks noGrp="1"/>
          </p:cNvSpPr>
          <p:nvPr/>
        </p:nvSpPr>
        <p:spPr>
          <a:xfrm>
            <a:off x="11431042" y="5931843"/>
            <a:ext cx="381893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초</a:t>
            </a:r>
          </a:p>
        </p:txBody>
      </p:sp>
      <p:sp>
        <p:nvSpPr>
          <p:cNvPr id="22" name="html-21-border">
            <a:extLst>
              <a:ext uri="{FF2B5EF4-FFF2-40B4-BE49-F238E27FC236}">
                <a16:creationId xmlns:a16="http://schemas.microsoft.com/office/drawing/2014/main" id="{246F47E0-3D58-418F-92DA-DD67D07DD82B}"/>
              </a:ext>
            </a:extLst>
          </p:cNvPr>
          <p:cNvSpPr>
            <a:spLocks noGrp="1"/>
          </p:cNvSpPr>
          <p:nvPr/>
        </p:nvSpPr>
        <p:spPr>
          <a:xfrm>
            <a:off x="10610404" y="6526113"/>
            <a:ext cx="3943796" cy="9525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tml-text-22">
            <a:extLst>
              <a:ext uri="{FF2B5EF4-FFF2-40B4-BE49-F238E27FC236}">
                <a16:creationId xmlns:a16="http://schemas.microsoft.com/office/drawing/2014/main" id="{9E45E7F7-811F-4F9E-8DCC-EFC26AEC6E0A}"/>
              </a:ext>
            </a:extLst>
          </p:cNvPr>
          <p:cNvSpPr>
            <a:spLocks noGrp="1"/>
          </p:cNvSpPr>
          <p:nvPr/>
        </p:nvSpPr>
        <p:spPr>
          <a:xfrm>
            <a:off x="10610404" y="6668988"/>
            <a:ext cx="1674465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모델 로딩·준비 실행 후</a:t>
            </a:r>
          </a:p>
        </p:txBody>
      </p:sp>
      <p:sp>
        <p:nvSpPr>
          <p:cNvPr id="24" name="html-text-23">
            <a:extLst>
              <a:ext uri="{FF2B5EF4-FFF2-40B4-BE49-F238E27FC236}">
                <a16:creationId xmlns:a16="http://schemas.microsoft.com/office/drawing/2014/main" id="{DE640A5A-935D-45E8-8F5C-7A8F1C3289B2}"/>
              </a:ext>
            </a:extLst>
          </p:cNvPr>
          <p:cNvSpPr>
            <a:spLocks noGrp="1"/>
          </p:cNvSpPr>
          <p:nvPr/>
        </p:nvSpPr>
        <p:spPr>
          <a:xfrm>
            <a:off x="10610404" y="6943279"/>
            <a:ext cx="1949500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배치 1 · 입력 256토큰 이하</a:t>
            </a:r>
          </a:p>
        </p:txBody>
      </p:sp>
      <p:sp>
        <p:nvSpPr>
          <p:cNvPr id="25" name="html-text-24">
            <a:extLst>
              <a:ext uri="{FF2B5EF4-FFF2-40B4-BE49-F238E27FC236}">
                <a16:creationId xmlns:a16="http://schemas.microsoft.com/office/drawing/2014/main" id="{5A5BE531-EA43-4608-B102-74D1830DC2C8}"/>
              </a:ext>
            </a:extLst>
          </p:cNvPr>
          <p:cNvSpPr>
            <a:spLocks noGrp="1"/>
          </p:cNvSpPr>
          <p:nvPr/>
        </p:nvSpPr>
        <p:spPr>
          <a:xfrm>
            <a:off x="10610404" y="7217569"/>
            <a:ext cx="2802731" cy="2023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3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문서 전체 시간·최대 메모리는 별도 측정</a:t>
            </a:r>
          </a:p>
        </p:txBody>
      </p:sp>
      <p:sp>
        <p:nvSpPr>
          <p:cNvPr id="26" name="html-text-25">
            <a:extLst>
              <a:ext uri="{FF2B5EF4-FFF2-40B4-BE49-F238E27FC236}">
                <a16:creationId xmlns:a16="http://schemas.microsoft.com/office/drawing/2014/main" id="{CBD9FD9B-1AA9-4991-B85F-1464E336A945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4144268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검증셋에서 설정 확정 후 시험 · 사람 수정 전 모델 성능과 수정 후 결과를 분리</a:t>
            </a:r>
          </a:p>
        </p:txBody>
      </p:sp>
      <p:sp>
        <p:nvSpPr>
          <p:cNvPr id="27" name="html-text-26">
            <a:extLst>
              <a:ext uri="{FF2B5EF4-FFF2-40B4-BE49-F238E27FC236}">
                <a16:creationId xmlns:a16="http://schemas.microsoft.com/office/drawing/2014/main" id="{6E241C47-95C7-463C-BC77-8FE6F954FAD6}"/>
              </a:ext>
            </a:extLst>
          </p:cNvPr>
          <p:cNvSpPr>
            <a:spLocks noGrp="1"/>
          </p:cNvSpPr>
          <p:nvPr/>
        </p:nvSpPr>
        <p:spPr>
          <a:xfrm>
            <a:off x="14151918" y="8131969"/>
            <a:ext cx="554682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460081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html-0-slide active">
            <a:extLst>
              <a:ext uri="{FF2B5EF4-FFF2-40B4-BE49-F238E27FC236}">
                <a16:creationId xmlns:a16="http://schemas.microsoft.com/office/drawing/2014/main" id="{BE59FF54-EE43-4417-83A4-A20B302825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3043055F-F979-4A03-8874-3FC2538C2D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6075E24C-1C83-4EA3-9626-B53A7CC92BAB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85338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추진 계획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3D625A75-A555-4B61-84D4-B13036D209F0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4721572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기본 흐름을 먼저 연결하고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A6997C35-B225-4380-A4D9-269559974B17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7533233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모델과 검수 기능을 단계적으로 개선합니다</a:t>
            </a:r>
          </a:p>
        </p:txBody>
      </p:sp>
      <p:sp>
        <p:nvSpPr>
          <p:cNvPr id="6" name="html-5-timeline">
            <a:extLst>
              <a:ext uri="{FF2B5EF4-FFF2-40B4-BE49-F238E27FC236}">
                <a16:creationId xmlns:a16="http://schemas.microsoft.com/office/drawing/2014/main" id="{15431BA8-B1EA-414B-89D9-293E3D688687}"/>
              </a:ext>
            </a:extLst>
          </p:cNvPr>
          <p:cNvSpPr>
            <a:spLocks noGrp="1"/>
          </p:cNvSpPr>
          <p:nvPr/>
        </p:nvSpPr>
        <p:spPr>
          <a:xfrm>
            <a:off x="752475" y="3587800"/>
            <a:ext cx="13735050" cy="19050"/>
          </a:xfrm>
          <a:prstGeom prst="rect">
            <a:avLst/>
          </a:prstGeom>
          <a:solidFill>
            <a:srgbClr val="A2ACD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html-text-6">
            <a:extLst>
              <a:ext uri="{FF2B5EF4-FFF2-40B4-BE49-F238E27FC236}">
                <a16:creationId xmlns:a16="http://schemas.microsoft.com/office/drawing/2014/main" id="{BC5E39FD-F447-403E-AEBF-0E302AE879E7}"/>
              </a:ext>
            </a:extLst>
          </p:cNvPr>
          <p:cNvSpPr>
            <a:spLocks noGrp="1"/>
          </p:cNvSpPr>
          <p:nvPr/>
        </p:nvSpPr>
        <p:spPr>
          <a:xfrm>
            <a:off x="752475" y="2930575"/>
            <a:ext cx="81468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11.01</a:t>
            </a:r>
          </a:p>
        </p:txBody>
      </p:sp>
      <p:sp>
        <p:nvSpPr>
          <p:cNvPr id="8" name="html-7-timeline-dot">
            <a:extLst>
              <a:ext uri="{FF2B5EF4-FFF2-40B4-BE49-F238E27FC236}">
                <a16:creationId xmlns:a16="http://schemas.microsoft.com/office/drawing/2014/main" id="{1029248B-A7C3-4E26-B68E-D16B0B93F609}"/>
              </a:ext>
            </a:extLst>
          </p:cNvPr>
          <p:cNvSpPr>
            <a:spLocks noGrp="1"/>
          </p:cNvSpPr>
          <p:nvPr/>
        </p:nvSpPr>
        <p:spPr>
          <a:xfrm>
            <a:off x="752475" y="351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html-8-ellipse">
            <a:extLst>
              <a:ext uri="{FF2B5EF4-FFF2-40B4-BE49-F238E27FC236}">
                <a16:creationId xmlns:a16="http://schemas.microsoft.com/office/drawing/2014/main" id="{E2EBA861-30B5-45BE-844B-111C4A0C44D8}"/>
              </a:ext>
            </a:extLst>
          </p:cNvPr>
          <p:cNvSpPr>
            <a:spLocks noGrp="1"/>
          </p:cNvSpPr>
          <p:nvPr/>
        </p:nvSpPr>
        <p:spPr>
          <a:xfrm>
            <a:off x="752475" y="3511600"/>
            <a:ext cx="152400" cy="152400"/>
          </a:xfrm>
          <a:prstGeom prst="ellipse">
            <a:avLst/>
          </a:prstGeom>
          <a:solidFill>
            <a:srgbClr val="011B9F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EC3A871D-61C4-4A2D-A9ED-02A225DA3428}"/>
              </a:ext>
            </a:extLst>
          </p:cNvPr>
          <p:cNvSpPr>
            <a:spLocks noGrp="1"/>
          </p:cNvSpPr>
          <p:nvPr/>
        </p:nvSpPr>
        <p:spPr>
          <a:xfrm>
            <a:off x="752475" y="3854500"/>
            <a:ext cx="1109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기준 정리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14D7A722-4344-4393-98B9-A1C9C2AE8146}"/>
              </a:ext>
            </a:extLst>
          </p:cNvPr>
          <p:cNvSpPr>
            <a:spLocks noGrp="1"/>
          </p:cNvSpPr>
          <p:nvPr/>
        </p:nvSpPr>
        <p:spPr>
          <a:xfrm>
            <a:off x="752475" y="4330750"/>
            <a:ext cx="170244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자료 선정·분할 고정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AFB7379D-5741-4EFE-ADD6-E9940A9A8172}"/>
              </a:ext>
            </a:extLst>
          </p:cNvPr>
          <p:cNvSpPr>
            <a:spLocks noGrp="1"/>
          </p:cNvSpPr>
          <p:nvPr/>
        </p:nvSpPr>
        <p:spPr>
          <a:xfrm>
            <a:off x="752475" y="4650730"/>
            <a:ext cx="16478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주석 지침·규칙·API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2CAC8180-E59B-4848-8428-069E1F116725}"/>
              </a:ext>
            </a:extLst>
          </p:cNvPr>
          <p:cNvSpPr>
            <a:spLocks noGrp="1"/>
          </p:cNvSpPr>
          <p:nvPr/>
        </p:nvSpPr>
        <p:spPr>
          <a:xfrm>
            <a:off x="3499396" y="2930575"/>
            <a:ext cx="898178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11.08</a:t>
            </a:r>
          </a:p>
        </p:txBody>
      </p:sp>
      <p:sp>
        <p:nvSpPr>
          <p:cNvPr id="14" name="html-13-timeline-dot">
            <a:extLst>
              <a:ext uri="{FF2B5EF4-FFF2-40B4-BE49-F238E27FC236}">
                <a16:creationId xmlns:a16="http://schemas.microsoft.com/office/drawing/2014/main" id="{477A588F-842F-4FDB-AC13-43B7DA273F01}"/>
              </a:ext>
            </a:extLst>
          </p:cNvPr>
          <p:cNvSpPr>
            <a:spLocks noGrp="1"/>
          </p:cNvSpPr>
          <p:nvPr/>
        </p:nvSpPr>
        <p:spPr>
          <a:xfrm>
            <a:off x="3499396" y="351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html-14-ellipse">
            <a:extLst>
              <a:ext uri="{FF2B5EF4-FFF2-40B4-BE49-F238E27FC236}">
                <a16:creationId xmlns:a16="http://schemas.microsoft.com/office/drawing/2014/main" id="{A0DE1499-9BB8-4417-83A4-702E8BA06C35}"/>
              </a:ext>
            </a:extLst>
          </p:cNvPr>
          <p:cNvSpPr>
            <a:spLocks noGrp="1"/>
          </p:cNvSpPr>
          <p:nvPr/>
        </p:nvSpPr>
        <p:spPr>
          <a:xfrm>
            <a:off x="3499396" y="3511600"/>
            <a:ext cx="152400" cy="152400"/>
          </a:xfrm>
          <a:prstGeom prst="ellipse">
            <a:avLst/>
          </a:prstGeom>
          <a:solidFill>
            <a:srgbClr val="011B9F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0754BC79-2758-4405-949E-736D6FBFE29C}"/>
              </a:ext>
            </a:extLst>
          </p:cNvPr>
          <p:cNvSpPr>
            <a:spLocks noGrp="1"/>
          </p:cNvSpPr>
          <p:nvPr/>
        </p:nvSpPr>
        <p:spPr>
          <a:xfrm>
            <a:off x="3499396" y="3854500"/>
            <a:ext cx="1109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기본 통합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73AB7DC9-5F96-4DD1-B37E-DC8E3A258019}"/>
              </a:ext>
            </a:extLst>
          </p:cNvPr>
          <p:cNvSpPr>
            <a:spLocks noGrp="1"/>
          </p:cNvSpPr>
          <p:nvPr/>
        </p:nvSpPr>
        <p:spPr>
          <a:xfrm>
            <a:off x="3499396" y="4330750"/>
            <a:ext cx="169932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추출·검토·CSV 연결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4A874644-2A17-4477-934E-2A0DE59F5110}"/>
              </a:ext>
            </a:extLst>
          </p:cNvPr>
          <p:cNvSpPr>
            <a:spLocks noGrp="1"/>
          </p:cNvSpPr>
          <p:nvPr/>
        </p:nvSpPr>
        <p:spPr>
          <a:xfrm>
            <a:off x="3499396" y="4650730"/>
            <a:ext cx="1295846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모델 초기 실험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2335F5F0-BF3B-4234-8EC6-413DA5D5BD6B}"/>
              </a:ext>
            </a:extLst>
          </p:cNvPr>
          <p:cNvSpPr>
            <a:spLocks noGrp="1"/>
          </p:cNvSpPr>
          <p:nvPr/>
        </p:nvSpPr>
        <p:spPr>
          <a:xfrm>
            <a:off x="6246465" y="2930575"/>
            <a:ext cx="834033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11.22</a:t>
            </a:r>
          </a:p>
        </p:txBody>
      </p:sp>
      <p:sp>
        <p:nvSpPr>
          <p:cNvPr id="20" name="html-19-timeline-dot">
            <a:extLst>
              <a:ext uri="{FF2B5EF4-FFF2-40B4-BE49-F238E27FC236}">
                <a16:creationId xmlns:a16="http://schemas.microsoft.com/office/drawing/2014/main" id="{C174B071-0330-4613-8CFB-EAA4F2130AE1}"/>
              </a:ext>
            </a:extLst>
          </p:cNvPr>
          <p:cNvSpPr>
            <a:spLocks noGrp="1"/>
          </p:cNvSpPr>
          <p:nvPr/>
        </p:nvSpPr>
        <p:spPr>
          <a:xfrm>
            <a:off x="6246465" y="351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html-20-ellipse">
            <a:extLst>
              <a:ext uri="{FF2B5EF4-FFF2-40B4-BE49-F238E27FC236}">
                <a16:creationId xmlns:a16="http://schemas.microsoft.com/office/drawing/2014/main" id="{AB002358-275F-40E0-813F-AEC0FDD01A1E}"/>
              </a:ext>
            </a:extLst>
          </p:cNvPr>
          <p:cNvSpPr>
            <a:spLocks noGrp="1"/>
          </p:cNvSpPr>
          <p:nvPr/>
        </p:nvSpPr>
        <p:spPr>
          <a:xfrm>
            <a:off x="6246465" y="3511600"/>
            <a:ext cx="152400" cy="152400"/>
          </a:xfrm>
          <a:prstGeom prst="ellipse">
            <a:avLst/>
          </a:prstGeom>
          <a:solidFill>
            <a:srgbClr val="011B9F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html-text-21">
            <a:extLst>
              <a:ext uri="{FF2B5EF4-FFF2-40B4-BE49-F238E27FC236}">
                <a16:creationId xmlns:a16="http://schemas.microsoft.com/office/drawing/2014/main" id="{FD15C2A9-5E83-4F30-AC4A-0E49A8AEADBC}"/>
              </a:ext>
            </a:extLst>
          </p:cNvPr>
          <p:cNvSpPr>
            <a:spLocks noGrp="1"/>
          </p:cNvSpPr>
          <p:nvPr/>
        </p:nvSpPr>
        <p:spPr>
          <a:xfrm>
            <a:off x="6246465" y="3854500"/>
            <a:ext cx="1109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모델 개선</a:t>
            </a:r>
          </a:p>
        </p:txBody>
      </p:sp>
      <p:sp>
        <p:nvSpPr>
          <p:cNvPr id="23" name="html-text-22">
            <a:extLst>
              <a:ext uri="{FF2B5EF4-FFF2-40B4-BE49-F238E27FC236}">
                <a16:creationId xmlns:a16="http://schemas.microsoft.com/office/drawing/2014/main" id="{4BE54D46-A115-4A2A-BC48-7308292722F1}"/>
              </a:ext>
            </a:extLst>
          </p:cNvPr>
          <p:cNvSpPr>
            <a:spLocks noGrp="1"/>
          </p:cNvSpPr>
          <p:nvPr/>
        </p:nvSpPr>
        <p:spPr>
          <a:xfrm>
            <a:off x="6246465" y="4330750"/>
            <a:ext cx="170244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주석 검수·오류 분석</a:t>
            </a:r>
          </a:p>
        </p:txBody>
      </p:sp>
      <p:sp>
        <p:nvSpPr>
          <p:cNvPr id="24" name="html-text-23">
            <a:extLst>
              <a:ext uri="{FF2B5EF4-FFF2-40B4-BE49-F238E27FC236}">
                <a16:creationId xmlns:a16="http://schemas.microsoft.com/office/drawing/2014/main" id="{4285B10A-E9C3-458E-B38E-5B58F8C7FA20}"/>
              </a:ext>
            </a:extLst>
          </p:cNvPr>
          <p:cNvSpPr>
            <a:spLocks noGrp="1"/>
          </p:cNvSpPr>
          <p:nvPr/>
        </p:nvSpPr>
        <p:spPr>
          <a:xfrm>
            <a:off x="6246465" y="4650730"/>
            <a:ext cx="170244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모델·평가 설정 확정</a:t>
            </a:r>
          </a:p>
        </p:txBody>
      </p:sp>
      <p:sp>
        <p:nvSpPr>
          <p:cNvPr id="25" name="html-text-24">
            <a:extLst>
              <a:ext uri="{FF2B5EF4-FFF2-40B4-BE49-F238E27FC236}">
                <a16:creationId xmlns:a16="http://schemas.microsoft.com/office/drawing/2014/main" id="{392C3641-0B85-495B-B55E-0F96E5A6AE4C}"/>
              </a:ext>
            </a:extLst>
          </p:cNvPr>
          <p:cNvSpPr>
            <a:spLocks noGrp="1"/>
          </p:cNvSpPr>
          <p:nvPr/>
        </p:nvSpPr>
        <p:spPr>
          <a:xfrm>
            <a:off x="8993386" y="2930575"/>
            <a:ext cx="951309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12.06</a:t>
            </a:r>
          </a:p>
        </p:txBody>
      </p:sp>
      <p:sp>
        <p:nvSpPr>
          <p:cNvPr id="26" name="html-25-timeline-dot">
            <a:extLst>
              <a:ext uri="{FF2B5EF4-FFF2-40B4-BE49-F238E27FC236}">
                <a16:creationId xmlns:a16="http://schemas.microsoft.com/office/drawing/2014/main" id="{933BB243-9615-4FA0-8A23-98C0302F26B1}"/>
              </a:ext>
            </a:extLst>
          </p:cNvPr>
          <p:cNvSpPr>
            <a:spLocks noGrp="1"/>
          </p:cNvSpPr>
          <p:nvPr/>
        </p:nvSpPr>
        <p:spPr>
          <a:xfrm>
            <a:off x="8993386" y="351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html-26-ellipse">
            <a:extLst>
              <a:ext uri="{FF2B5EF4-FFF2-40B4-BE49-F238E27FC236}">
                <a16:creationId xmlns:a16="http://schemas.microsoft.com/office/drawing/2014/main" id="{706946C0-06A4-40E3-9AB4-3D1D17555DD8}"/>
              </a:ext>
            </a:extLst>
          </p:cNvPr>
          <p:cNvSpPr>
            <a:spLocks noGrp="1"/>
          </p:cNvSpPr>
          <p:nvPr/>
        </p:nvSpPr>
        <p:spPr>
          <a:xfrm>
            <a:off x="8993386" y="3511600"/>
            <a:ext cx="152400" cy="152400"/>
          </a:xfrm>
          <a:prstGeom prst="ellipse">
            <a:avLst/>
          </a:prstGeom>
          <a:solidFill>
            <a:srgbClr val="011B9F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html-text-27">
            <a:extLst>
              <a:ext uri="{FF2B5EF4-FFF2-40B4-BE49-F238E27FC236}">
                <a16:creationId xmlns:a16="http://schemas.microsoft.com/office/drawing/2014/main" id="{537A740F-F030-4D92-AFA1-20EB8491542B}"/>
              </a:ext>
            </a:extLst>
          </p:cNvPr>
          <p:cNvSpPr>
            <a:spLocks noGrp="1"/>
          </p:cNvSpPr>
          <p:nvPr/>
        </p:nvSpPr>
        <p:spPr>
          <a:xfrm>
            <a:off x="8993386" y="3854500"/>
            <a:ext cx="110996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최종 검증</a:t>
            </a:r>
          </a:p>
        </p:txBody>
      </p:sp>
      <p:sp>
        <p:nvSpPr>
          <p:cNvPr id="29" name="html-text-28">
            <a:extLst>
              <a:ext uri="{FF2B5EF4-FFF2-40B4-BE49-F238E27FC236}">
                <a16:creationId xmlns:a16="http://schemas.microsoft.com/office/drawing/2014/main" id="{896D745C-E564-4A2E-8D78-265871DA2657}"/>
              </a:ext>
            </a:extLst>
          </p:cNvPr>
          <p:cNvSpPr>
            <a:spLocks noGrp="1"/>
          </p:cNvSpPr>
          <p:nvPr/>
        </p:nvSpPr>
        <p:spPr>
          <a:xfrm>
            <a:off x="8993386" y="4330750"/>
            <a:ext cx="1710482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추출·오류·실행 평가</a:t>
            </a:r>
          </a:p>
        </p:txBody>
      </p:sp>
      <p:sp>
        <p:nvSpPr>
          <p:cNvPr id="30" name="html-text-29">
            <a:extLst>
              <a:ext uri="{FF2B5EF4-FFF2-40B4-BE49-F238E27FC236}">
                <a16:creationId xmlns:a16="http://schemas.microsoft.com/office/drawing/2014/main" id="{9D432C34-791F-4964-ABD8-322B8599D0E8}"/>
              </a:ext>
            </a:extLst>
          </p:cNvPr>
          <p:cNvSpPr>
            <a:spLocks noGrp="1"/>
          </p:cNvSpPr>
          <p:nvPr/>
        </p:nvSpPr>
        <p:spPr>
          <a:xfrm>
            <a:off x="8993386" y="4650730"/>
            <a:ext cx="146878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사용자 과제 수행</a:t>
            </a:r>
          </a:p>
        </p:txBody>
      </p:sp>
      <p:sp>
        <p:nvSpPr>
          <p:cNvPr id="31" name="html-text-30">
            <a:extLst>
              <a:ext uri="{FF2B5EF4-FFF2-40B4-BE49-F238E27FC236}">
                <a16:creationId xmlns:a16="http://schemas.microsoft.com/office/drawing/2014/main" id="{863D6072-CA9F-436F-9FC4-B30A271B285A}"/>
              </a:ext>
            </a:extLst>
          </p:cNvPr>
          <p:cNvSpPr>
            <a:spLocks noGrp="1"/>
          </p:cNvSpPr>
          <p:nvPr/>
        </p:nvSpPr>
        <p:spPr>
          <a:xfrm>
            <a:off x="11740455" y="2930575"/>
            <a:ext cx="835819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775" b="1" i="0" spc="-75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12.12</a:t>
            </a:r>
          </a:p>
        </p:txBody>
      </p:sp>
      <p:sp>
        <p:nvSpPr>
          <p:cNvPr id="32" name="html-31-timeline-dot">
            <a:extLst>
              <a:ext uri="{FF2B5EF4-FFF2-40B4-BE49-F238E27FC236}">
                <a16:creationId xmlns:a16="http://schemas.microsoft.com/office/drawing/2014/main" id="{9F6F0709-28C9-4452-9536-8AB35690F896}"/>
              </a:ext>
            </a:extLst>
          </p:cNvPr>
          <p:cNvSpPr>
            <a:spLocks noGrp="1"/>
          </p:cNvSpPr>
          <p:nvPr/>
        </p:nvSpPr>
        <p:spPr>
          <a:xfrm>
            <a:off x="11740455" y="3511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html-32-ellipse">
            <a:extLst>
              <a:ext uri="{FF2B5EF4-FFF2-40B4-BE49-F238E27FC236}">
                <a16:creationId xmlns:a16="http://schemas.microsoft.com/office/drawing/2014/main" id="{08590F4E-9526-444B-A19B-585D2544E1D4}"/>
              </a:ext>
            </a:extLst>
          </p:cNvPr>
          <p:cNvSpPr>
            <a:spLocks noGrp="1"/>
          </p:cNvSpPr>
          <p:nvPr/>
        </p:nvSpPr>
        <p:spPr>
          <a:xfrm>
            <a:off x="11740455" y="3511600"/>
            <a:ext cx="152400" cy="152400"/>
          </a:xfrm>
          <a:prstGeom prst="ellipse">
            <a:avLst/>
          </a:prstGeom>
          <a:solidFill>
            <a:srgbClr val="011B9F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html-text-33">
            <a:extLst>
              <a:ext uri="{FF2B5EF4-FFF2-40B4-BE49-F238E27FC236}">
                <a16:creationId xmlns:a16="http://schemas.microsoft.com/office/drawing/2014/main" id="{92ED1722-3B88-42FE-9ED4-B84F3E038DCE}"/>
              </a:ext>
            </a:extLst>
          </p:cNvPr>
          <p:cNvSpPr>
            <a:spLocks noGrp="1"/>
          </p:cNvSpPr>
          <p:nvPr/>
        </p:nvSpPr>
        <p:spPr>
          <a:xfrm>
            <a:off x="11740455" y="3854500"/>
            <a:ext cx="133245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제출본 완성</a:t>
            </a:r>
          </a:p>
        </p:txBody>
      </p:sp>
      <p:sp>
        <p:nvSpPr>
          <p:cNvPr id="35" name="html-text-34">
            <a:extLst>
              <a:ext uri="{FF2B5EF4-FFF2-40B4-BE49-F238E27FC236}">
                <a16:creationId xmlns:a16="http://schemas.microsoft.com/office/drawing/2014/main" id="{3098CECF-A539-45B6-BD2B-FE0EBC84538A}"/>
              </a:ext>
            </a:extLst>
          </p:cNvPr>
          <p:cNvSpPr>
            <a:spLocks noGrp="1"/>
          </p:cNvSpPr>
          <p:nvPr/>
        </p:nvSpPr>
        <p:spPr>
          <a:xfrm>
            <a:off x="11740455" y="4330750"/>
            <a:ext cx="1484858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발표·영상·보고서</a:t>
            </a:r>
          </a:p>
        </p:txBody>
      </p:sp>
      <p:sp>
        <p:nvSpPr>
          <p:cNvPr id="36" name="html-text-35">
            <a:extLst>
              <a:ext uri="{FF2B5EF4-FFF2-40B4-BE49-F238E27FC236}">
                <a16:creationId xmlns:a16="http://schemas.microsoft.com/office/drawing/2014/main" id="{5C56BCB5-489E-4F6B-AD18-2D5AA204BC24}"/>
              </a:ext>
            </a:extLst>
          </p:cNvPr>
          <p:cNvSpPr>
            <a:spLocks noGrp="1"/>
          </p:cNvSpPr>
          <p:nvPr/>
        </p:nvSpPr>
        <p:spPr>
          <a:xfrm>
            <a:off x="11740455" y="4650730"/>
            <a:ext cx="170244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공개 코드·재현 자료</a:t>
            </a:r>
          </a:p>
        </p:txBody>
      </p:sp>
      <p:sp>
        <p:nvSpPr>
          <p:cNvPr id="37" name="html-36-shape">
            <a:extLst>
              <a:ext uri="{FF2B5EF4-FFF2-40B4-BE49-F238E27FC236}">
                <a16:creationId xmlns:a16="http://schemas.microsoft.com/office/drawing/2014/main" id="{090A5929-B522-4E4B-9C57-86C6EB64E201}"/>
              </a:ext>
            </a:extLst>
          </p:cNvPr>
          <p:cNvSpPr>
            <a:spLocks noGrp="1"/>
          </p:cNvSpPr>
          <p:nvPr/>
        </p:nvSpPr>
        <p:spPr>
          <a:xfrm>
            <a:off x="685800" y="5351711"/>
            <a:ext cx="3295650" cy="1047750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tml-37-border">
            <a:extLst>
              <a:ext uri="{FF2B5EF4-FFF2-40B4-BE49-F238E27FC236}">
                <a16:creationId xmlns:a16="http://schemas.microsoft.com/office/drawing/2014/main" id="{01AEA8EB-6E55-489F-98A4-15DE96550132}"/>
              </a:ext>
            </a:extLst>
          </p:cNvPr>
          <p:cNvSpPr>
            <a:spLocks noGrp="1"/>
          </p:cNvSpPr>
          <p:nvPr/>
        </p:nvSpPr>
        <p:spPr>
          <a:xfrm>
            <a:off x="685800" y="5351711"/>
            <a:ext cx="3295650" cy="3810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html-text-38">
            <a:extLst>
              <a:ext uri="{FF2B5EF4-FFF2-40B4-BE49-F238E27FC236}">
                <a16:creationId xmlns:a16="http://schemas.microsoft.com/office/drawing/2014/main" id="{CF0E990C-3CD6-450D-9D74-715B86B57EDB}"/>
              </a:ext>
            </a:extLst>
          </p:cNvPr>
          <p:cNvSpPr>
            <a:spLocks noGrp="1"/>
          </p:cNvSpPr>
          <p:nvPr/>
        </p:nvSpPr>
        <p:spPr>
          <a:xfrm>
            <a:off x="895350" y="5551736"/>
            <a:ext cx="844600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손영원</a:t>
            </a:r>
          </a:p>
        </p:txBody>
      </p:sp>
      <p:sp>
        <p:nvSpPr>
          <p:cNvPr id="40" name="html-text-39">
            <a:extLst>
              <a:ext uri="{FF2B5EF4-FFF2-40B4-BE49-F238E27FC236}">
                <a16:creationId xmlns:a16="http://schemas.microsoft.com/office/drawing/2014/main" id="{AF2EA2C7-40A6-420D-8C79-B3139B3C2982}"/>
              </a:ext>
            </a:extLst>
          </p:cNvPr>
          <p:cNvSpPr>
            <a:spLocks noGrp="1"/>
          </p:cNvSpPr>
          <p:nvPr/>
        </p:nvSpPr>
        <p:spPr>
          <a:xfrm>
            <a:off x="895350" y="5951786"/>
            <a:ext cx="1235571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rPr>
              <a:t>모델·평가·PM</a:t>
            </a:r>
          </a:p>
        </p:txBody>
      </p:sp>
      <p:sp>
        <p:nvSpPr>
          <p:cNvPr id="41" name="html-40-shape">
            <a:extLst>
              <a:ext uri="{FF2B5EF4-FFF2-40B4-BE49-F238E27FC236}">
                <a16:creationId xmlns:a16="http://schemas.microsoft.com/office/drawing/2014/main" id="{627FC622-A0A2-4756-9253-6CAA4AAA9017}"/>
              </a:ext>
            </a:extLst>
          </p:cNvPr>
          <p:cNvSpPr>
            <a:spLocks noGrp="1"/>
          </p:cNvSpPr>
          <p:nvPr/>
        </p:nvSpPr>
        <p:spPr>
          <a:xfrm>
            <a:off x="4210050" y="5351711"/>
            <a:ext cx="3295650" cy="1047750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html-41-border">
            <a:extLst>
              <a:ext uri="{FF2B5EF4-FFF2-40B4-BE49-F238E27FC236}">
                <a16:creationId xmlns:a16="http://schemas.microsoft.com/office/drawing/2014/main" id="{1BB91B2E-B7BE-4B37-B05D-2179F9E4D190}"/>
              </a:ext>
            </a:extLst>
          </p:cNvPr>
          <p:cNvSpPr>
            <a:spLocks noGrp="1"/>
          </p:cNvSpPr>
          <p:nvPr/>
        </p:nvSpPr>
        <p:spPr>
          <a:xfrm>
            <a:off x="4210050" y="5351711"/>
            <a:ext cx="3295650" cy="3810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html-text-42">
            <a:extLst>
              <a:ext uri="{FF2B5EF4-FFF2-40B4-BE49-F238E27FC236}">
                <a16:creationId xmlns:a16="http://schemas.microsoft.com/office/drawing/2014/main" id="{61F0FE45-1720-4632-A6DB-8E62DAC8C7C7}"/>
              </a:ext>
            </a:extLst>
          </p:cNvPr>
          <p:cNvSpPr>
            <a:spLocks noGrp="1"/>
          </p:cNvSpPr>
          <p:nvPr/>
        </p:nvSpPr>
        <p:spPr>
          <a:xfrm>
            <a:off x="4419600" y="5551736"/>
            <a:ext cx="844600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박세렴</a:t>
            </a:r>
          </a:p>
        </p:txBody>
      </p:sp>
      <p:sp>
        <p:nvSpPr>
          <p:cNvPr id="44" name="html-text-43">
            <a:extLst>
              <a:ext uri="{FF2B5EF4-FFF2-40B4-BE49-F238E27FC236}">
                <a16:creationId xmlns:a16="http://schemas.microsoft.com/office/drawing/2014/main" id="{5709E89C-4755-4D0B-93B2-918E3D682200}"/>
              </a:ext>
            </a:extLst>
          </p:cNvPr>
          <p:cNvSpPr>
            <a:spLocks noGrp="1"/>
          </p:cNvSpPr>
          <p:nvPr/>
        </p:nvSpPr>
        <p:spPr>
          <a:xfrm>
            <a:off x="4419600" y="5951786"/>
            <a:ext cx="1429643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rPr>
              <a:t>React·검토 화면</a:t>
            </a:r>
          </a:p>
        </p:txBody>
      </p:sp>
      <p:sp>
        <p:nvSpPr>
          <p:cNvPr id="45" name="html-44-shape">
            <a:extLst>
              <a:ext uri="{FF2B5EF4-FFF2-40B4-BE49-F238E27FC236}">
                <a16:creationId xmlns:a16="http://schemas.microsoft.com/office/drawing/2014/main" id="{1D2CEA6A-3054-49B7-80F1-47BF6BFA812F}"/>
              </a:ext>
            </a:extLst>
          </p:cNvPr>
          <p:cNvSpPr>
            <a:spLocks noGrp="1"/>
          </p:cNvSpPr>
          <p:nvPr/>
        </p:nvSpPr>
        <p:spPr>
          <a:xfrm>
            <a:off x="7734300" y="5351711"/>
            <a:ext cx="3295650" cy="1047750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html-45-border">
            <a:extLst>
              <a:ext uri="{FF2B5EF4-FFF2-40B4-BE49-F238E27FC236}">
                <a16:creationId xmlns:a16="http://schemas.microsoft.com/office/drawing/2014/main" id="{545E5CE1-8298-4A7F-BDBD-A9FBAAADE474}"/>
              </a:ext>
            </a:extLst>
          </p:cNvPr>
          <p:cNvSpPr>
            <a:spLocks noGrp="1"/>
          </p:cNvSpPr>
          <p:nvPr/>
        </p:nvSpPr>
        <p:spPr>
          <a:xfrm>
            <a:off x="7734300" y="5351711"/>
            <a:ext cx="3295650" cy="3810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html-text-46">
            <a:extLst>
              <a:ext uri="{FF2B5EF4-FFF2-40B4-BE49-F238E27FC236}">
                <a16:creationId xmlns:a16="http://schemas.microsoft.com/office/drawing/2014/main" id="{F9D69625-9C7D-498A-91D7-337E45945368}"/>
              </a:ext>
            </a:extLst>
          </p:cNvPr>
          <p:cNvSpPr>
            <a:spLocks noGrp="1"/>
          </p:cNvSpPr>
          <p:nvPr/>
        </p:nvSpPr>
        <p:spPr>
          <a:xfrm>
            <a:off x="7943850" y="5551736"/>
            <a:ext cx="844600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박서연</a:t>
            </a:r>
          </a:p>
        </p:txBody>
      </p:sp>
      <p:sp>
        <p:nvSpPr>
          <p:cNvPr id="48" name="html-text-47">
            <a:extLst>
              <a:ext uri="{FF2B5EF4-FFF2-40B4-BE49-F238E27FC236}">
                <a16:creationId xmlns:a16="http://schemas.microsoft.com/office/drawing/2014/main" id="{FB45F3BB-CDDD-4538-96A5-85679D1D7176}"/>
              </a:ext>
            </a:extLst>
          </p:cNvPr>
          <p:cNvSpPr>
            <a:spLocks noGrp="1"/>
          </p:cNvSpPr>
          <p:nvPr/>
        </p:nvSpPr>
        <p:spPr>
          <a:xfrm>
            <a:off x="7943850" y="5951786"/>
            <a:ext cx="1545878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rPr>
              <a:t>API·DB·비교·CSV</a:t>
            </a:r>
          </a:p>
        </p:txBody>
      </p:sp>
      <p:sp>
        <p:nvSpPr>
          <p:cNvPr id="49" name="html-48-shape">
            <a:extLst>
              <a:ext uri="{FF2B5EF4-FFF2-40B4-BE49-F238E27FC236}">
                <a16:creationId xmlns:a16="http://schemas.microsoft.com/office/drawing/2014/main" id="{681E3828-BA23-466E-99B2-BB4A413BF382}"/>
              </a:ext>
            </a:extLst>
          </p:cNvPr>
          <p:cNvSpPr>
            <a:spLocks noGrp="1"/>
          </p:cNvSpPr>
          <p:nvPr/>
        </p:nvSpPr>
        <p:spPr>
          <a:xfrm>
            <a:off x="11258550" y="5351711"/>
            <a:ext cx="3295650" cy="1047750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html-49-border">
            <a:extLst>
              <a:ext uri="{FF2B5EF4-FFF2-40B4-BE49-F238E27FC236}">
                <a16:creationId xmlns:a16="http://schemas.microsoft.com/office/drawing/2014/main" id="{9CEED994-406C-4EB4-9BC3-3CB71A10BC8C}"/>
              </a:ext>
            </a:extLst>
          </p:cNvPr>
          <p:cNvSpPr>
            <a:spLocks noGrp="1"/>
          </p:cNvSpPr>
          <p:nvPr/>
        </p:nvSpPr>
        <p:spPr>
          <a:xfrm>
            <a:off x="11258550" y="5351711"/>
            <a:ext cx="3295650" cy="38100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html-text-50">
            <a:extLst>
              <a:ext uri="{FF2B5EF4-FFF2-40B4-BE49-F238E27FC236}">
                <a16:creationId xmlns:a16="http://schemas.microsoft.com/office/drawing/2014/main" id="{CB88EBE7-4A9D-4709-8E55-204032E040FA}"/>
              </a:ext>
            </a:extLst>
          </p:cNvPr>
          <p:cNvSpPr>
            <a:spLocks noGrp="1"/>
          </p:cNvSpPr>
          <p:nvPr/>
        </p:nvSpPr>
        <p:spPr>
          <a:xfrm>
            <a:off x="11468100" y="5551736"/>
            <a:ext cx="844600" cy="3147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박신혁</a:t>
            </a:r>
          </a:p>
        </p:txBody>
      </p:sp>
      <p:sp>
        <p:nvSpPr>
          <p:cNvPr id="52" name="html-text-51">
            <a:extLst>
              <a:ext uri="{FF2B5EF4-FFF2-40B4-BE49-F238E27FC236}">
                <a16:creationId xmlns:a16="http://schemas.microsoft.com/office/drawing/2014/main" id="{2000B9DD-0C6F-466F-810D-0734596110C9}"/>
              </a:ext>
            </a:extLst>
          </p:cNvPr>
          <p:cNvSpPr>
            <a:spLocks noGrp="1"/>
          </p:cNvSpPr>
          <p:nvPr/>
        </p:nvSpPr>
        <p:spPr>
          <a:xfrm>
            <a:off x="11468100" y="5951786"/>
            <a:ext cx="1892647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505B74"/>
                </a:solidFill>
                <a:latin typeface="Apple SD Gothic Neo"/>
                <a:ea typeface="Apple SD Gothic Neo"/>
                <a:cs typeface="Apple SD Gothic Neo"/>
              </a:rPr>
              <a:t>전처리·규칙·CPU 실행</a:t>
            </a:r>
          </a:p>
        </p:txBody>
      </p:sp>
      <p:sp>
        <p:nvSpPr>
          <p:cNvPr id="53" name="html-text-52">
            <a:extLst>
              <a:ext uri="{FF2B5EF4-FFF2-40B4-BE49-F238E27FC236}">
                <a16:creationId xmlns:a16="http://schemas.microsoft.com/office/drawing/2014/main" id="{0CCED5E5-CDB5-4E4E-9822-E74A46D85727}"/>
              </a:ext>
            </a:extLst>
          </p:cNvPr>
          <p:cNvSpPr>
            <a:spLocks noGrp="1"/>
          </p:cNvSpPr>
          <p:nvPr/>
        </p:nvSpPr>
        <p:spPr>
          <a:xfrm>
            <a:off x="685800" y="6770936"/>
            <a:ext cx="2792313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725" b="1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공동: 주석·교차 검수·통합 점검</a:t>
            </a:r>
          </a:p>
        </p:txBody>
      </p:sp>
      <p:sp>
        <p:nvSpPr>
          <p:cNvPr id="54" name="html-text-53">
            <a:extLst>
              <a:ext uri="{FF2B5EF4-FFF2-40B4-BE49-F238E27FC236}">
                <a16:creationId xmlns:a16="http://schemas.microsoft.com/office/drawing/2014/main" id="{1900414D-6143-42B6-B9F9-C701B98342A7}"/>
              </a:ext>
            </a:extLst>
          </p:cNvPr>
          <p:cNvSpPr>
            <a:spLocks noGrp="1"/>
          </p:cNvSpPr>
          <p:nvPr/>
        </p:nvSpPr>
        <p:spPr>
          <a:xfrm>
            <a:off x="685800" y="7142411"/>
            <a:ext cx="569029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학습 자원 부족 시 인코더 고정 학습 경로 시험 · 원문 근거와 평가 기준 유지</a:t>
            </a:r>
          </a:p>
        </p:txBody>
      </p:sp>
      <p:sp>
        <p:nvSpPr>
          <p:cNvPr id="56" name="html-text-55">
            <a:extLst>
              <a:ext uri="{FF2B5EF4-FFF2-40B4-BE49-F238E27FC236}">
                <a16:creationId xmlns:a16="http://schemas.microsoft.com/office/drawing/2014/main" id="{2E96D99B-84FC-4D25-BB70-B3A622D1797C}"/>
              </a:ext>
            </a:extLst>
          </p:cNvPr>
          <p:cNvSpPr>
            <a:spLocks noGrp="1"/>
          </p:cNvSpPr>
          <p:nvPr/>
        </p:nvSpPr>
        <p:spPr>
          <a:xfrm>
            <a:off x="14191357" y="8131969"/>
            <a:ext cx="515243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33990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tml-0-slide closing active">
            <a:extLst>
              <a:ext uri="{FF2B5EF4-FFF2-40B4-BE49-F238E27FC236}">
                <a16:creationId xmlns:a16="http://schemas.microsoft.com/office/drawing/2014/main" id="{1E8707D4-E96C-4630-8CFE-5A557F8A09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50A7F2F6-43B3-4B2A-9A36-9DDE0A8C5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011B9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1D19DF95-F3DB-481A-8D88-E08431EFE3B3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1530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목표 산출물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FD4E37A3-ABC8-4AF1-8651-853DBE96BA4C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3842891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근거가 남는 비교표와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EF228CD7-405D-4634-8210-ABD319AE9587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6373416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재현 가능한 분석 과정을 제공합니다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57313C-7789-41A0-B1B5-DBC1607C9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62250" y="2310421"/>
            <a:ext cx="7445496" cy="4190378"/>
          </a:xfrm>
          <a:prstGeom prst="rect">
            <a:avLst/>
          </a:prstGeom>
        </p:spPr>
      </p:pic>
      <p:sp>
        <p:nvSpPr>
          <p:cNvPr id="7" name="html-text-6">
            <a:extLst>
              <a:ext uri="{FF2B5EF4-FFF2-40B4-BE49-F238E27FC236}">
                <a16:creationId xmlns:a16="http://schemas.microsoft.com/office/drawing/2014/main" id="{A2BDBC4E-1806-4104-B38C-4D777BF17869}"/>
              </a:ext>
            </a:extLst>
          </p:cNvPr>
          <p:cNvSpPr>
            <a:spLocks noGrp="1"/>
          </p:cNvSpPr>
          <p:nvPr/>
        </p:nvSpPr>
        <p:spPr>
          <a:xfrm>
            <a:off x="9760446" y="3110210"/>
            <a:ext cx="346174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0802CA33-93F4-4B6C-B98C-78009BC7F473}"/>
              </a:ext>
            </a:extLst>
          </p:cNvPr>
          <p:cNvSpPr>
            <a:spLocks noGrp="1"/>
          </p:cNvSpPr>
          <p:nvPr/>
        </p:nvSpPr>
        <p:spPr>
          <a:xfrm>
            <a:off x="10217646" y="3072110"/>
            <a:ext cx="1180802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웹 서비스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C0001EE9-039A-49F8-8539-E9AB3A372F4F}"/>
              </a:ext>
            </a:extLst>
          </p:cNvPr>
          <p:cNvSpPr>
            <a:spLocks noGrp="1"/>
          </p:cNvSpPr>
          <p:nvPr/>
        </p:nvSpPr>
        <p:spPr>
          <a:xfrm>
            <a:off x="10217646" y="3519785"/>
            <a:ext cx="3042642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조건 추출·근거 확인·수정·비교·CSV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1D77B33E-7F24-4D5B-82C1-7CE9672700B9}"/>
              </a:ext>
            </a:extLst>
          </p:cNvPr>
          <p:cNvSpPr>
            <a:spLocks noGrp="1"/>
          </p:cNvSpPr>
          <p:nvPr/>
        </p:nvSpPr>
        <p:spPr>
          <a:xfrm>
            <a:off x="9760446" y="4053185"/>
            <a:ext cx="37653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C4A8B630-6206-4D4F-9E43-FA74E5E59CAE}"/>
              </a:ext>
            </a:extLst>
          </p:cNvPr>
          <p:cNvSpPr>
            <a:spLocks noGrp="1"/>
          </p:cNvSpPr>
          <p:nvPr/>
        </p:nvSpPr>
        <p:spPr>
          <a:xfrm>
            <a:off x="10217646" y="4015085"/>
            <a:ext cx="141982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평가 보고서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E9FFC503-9E57-4548-A250-54244110DB88}"/>
              </a:ext>
            </a:extLst>
          </p:cNvPr>
          <p:cNvSpPr>
            <a:spLocks noGrp="1"/>
          </p:cNvSpPr>
          <p:nvPr/>
        </p:nvSpPr>
        <p:spPr>
          <a:xfrm>
            <a:off x="10217646" y="4462760"/>
            <a:ext cx="31559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Baseline 비교와 실패 사례·자원 사용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66627002-210E-4F2E-8689-0252036544F1}"/>
              </a:ext>
            </a:extLst>
          </p:cNvPr>
          <p:cNvSpPr>
            <a:spLocks noGrp="1"/>
          </p:cNvSpPr>
          <p:nvPr/>
        </p:nvSpPr>
        <p:spPr>
          <a:xfrm>
            <a:off x="9760446" y="4996160"/>
            <a:ext cx="37534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1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B164D798-F47F-46A5-ABEB-82BD5EB03CA2}"/>
              </a:ext>
            </a:extLst>
          </p:cNvPr>
          <p:cNvSpPr>
            <a:spLocks noGrp="1"/>
          </p:cNvSpPr>
          <p:nvPr/>
        </p:nvSpPr>
        <p:spPr>
          <a:xfrm>
            <a:off x="10217646" y="4958060"/>
            <a:ext cx="229299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공개 코드·재현 자료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53F701F4-5672-431E-98F2-B5DBF76D8C07}"/>
              </a:ext>
            </a:extLst>
          </p:cNvPr>
          <p:cNvSpPr>
            <a:spLocks noGrp="1"/>
          </p:cNvSpPr>
          <p:nvPr/>
        </p:nvSpPr>
        <p:spPr>
          <a:xfrm>
            <a:off x="10217646" y="5405735"/>
            <a:ext cx="29908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주석 지침·설정·실행법·허용된 예제</a:t>
            </a:r>
          </a:p>
        </p:txBody>
      </p:sp>
      <p:sp>
        <p:nvSpPr>
          <p:cNvPr id="16" name="html-15-closing-line">
            <a:extLst>
              <a:ext uri="{FF2B5EF4-FFF2-40B4-BE49-F238E27FC236}">
                <a16:creationId xmlns:a16="http://schemas.microsoft.com/office/drawing/2014/main" id="{D1CBA4D5-1DEB-42BA-BB0D-82876FF9F606}"/>
              </a:ext>
            </a:extLst>
          </p:cNvPr>
          <p:cNvSpPr>
            <a:spLocks noGrp="1"/>
          </p:cNvSpPr>
          <p:nvPr/>
        </p:nvSpPr>
        <p:spPr>
          <a:xfrm>
            <a:off x="685800" y="6701135"/>
            <a:ext cx="13868400" cy="813346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45DB7841-BE15-4C9E-8C60-5D82A3F28CDF}"/>
              </a:ext>
            </a:extLst>
          </p:cNvPr>
          <p:cNvSpPr>
            <a:spLocks noGrp="1"/>
          </p:cNvSpPr>
          <p:nvPr/>
        </p:nvSpPr>
        <p:spPr>
          <a:xfrm>
            <a:off x="952500" y="6901160"/>
            <a:ext cx="3752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조사·검토 부담의 감소 가능성을 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8B9F17CF-573C-4E5F-9A9E-5673CE6CF81E}"/>
              </a:ext>
            </a:extLst>
          </p:cNvPr>
          <p:cNvSpPr>
            <a:spLocks noGrp="1"/>
          </p:cNvSpPr>
          <p:nvPr/>
        </p:nvSpPr>
        <p:spPr>
          <a:xfrm>
            <a:off x="4552950" y="6901160"/>
            <a:ext cx="228436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1" i="0" spc="-52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시간과 오류로 검증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A724AAE1-37E5-47F7-9096-E74135952F07}"/>
              </a:ext>
            </a:extLst>
          </p:cNvPr>
          <p:cNvSpPr>
            <a:spLocks noGrp="1"/>
          </p:cNvSpPr>
          <p:nvPr/>
        </p:nvSpPr>
        <p:spPr>
          <a:xfrm>
            <a:off x="6684913" y="6901160"/>
            <a:ext cx="1456283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325" b="0" i="0" spc="-52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하겠습니다.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1CD66BC1-7441-4850-A7B6-B88EB1522192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4302919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기술·교육적 활용: 금융 문서 분석 학습과 후속 연구 · 원문 공개는 이용 조건 확인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09B4AD30-1EE0-4C06-A40A-BE51E0373450}"/>
              </a:ext>
            </a:extLst>
          </p:cNvPr>
          <p:cNvSpPr>
            <a:spLocks noGrp="1"/>
          </p:cNvSpPr>
          <p:nvPr/>
        </p:nvSpPr>
        <p:spPr>
          <a:xfrm>
            <a:off x="14167842" y="8131969"/>
            <a:ext cx="538758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89216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tml-0-slide appendix active">
            <a:extLst>
              <a:ext uri="{FF2B5EF4-FFF2-40B4-BE49-F238E27FC236}">
                <a16:creationId xmlns:a16="http://schemas.microsoft.com/office/drawing/2014/main" id="{86C069AB-E4EC-4512-95E8-808DE29A76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5E59B4EF-E1EA-420C-A448-BFA9E25EA5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6EE09BCD-EBF5-4D22-93F5-0497C0550FEA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755577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부록 A1 · 사용자 흐름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5213C969-8990-4330-A062-BF4BC2BF2174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482724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상품 비교 화면의 개념 시안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EE892FEB-4C62-478E-9367-63706DF6B0E3}"/>
              </a:ext>
            </a:extLst>
          </p:cNvPr>
          <p:cNvSpPr>
            <a:spLocks noGrp="1"/>
          </p:cNvSpPr>
          <p:nvPr/>
        </p:nvSpPr>
        <p:spPr>
          <a:xfrm>
            <a:off x="685800" y="1702743"/>
            <a:ext cx="4711154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조건의 차이와 근거·검토 상태를 함께 표시합니다.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36B066-ACF8-497A-B346-3A8AC0A6D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74141" y="2264718"/>
            <a:ext cx="8091717" cy="4555182"/>
          </a:xfrm>
          <a:prstGeom prst="rect">
            <a:avLst/>
          </a:prstGeom>
        </p:spPr>
      </p:pic>
      <p:sp>
        <p:nvSpPr>
          <p:cNvPr id="7" name="html-6-border">
            <a:extLst>
              <a:ext uri="{FF2B5EF4-FFF2-40B4-BE49-F238E27FC236}">
                <a16:creationId xmlns:a16="http://schemas.microsoft.com/office/drawing/2014/main" id="{DC9AEADF-3C74-4704-9126-5E92E2C00657}"/>
              </a:ext>
            </a:extLst>
          </p:cNvPr>
          <p:cNvSpPr>
            <a:spLocks noGrp="1"/>
          </p:cNvSpPr>
          <p:nvPr/>
        </p:nvSpPr>
        <p:spPr>
          <a:xfrm>
            <a:off x="685800" y="6972300"/>
            <a:ext cx="13868400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DF399617-E675-470E-8CF6-7BD091CB13D7}"/>
              </a:ext>
            </a:extLst>
          </p:cNvPr>
          <p:cNvSpPr>
            <a:spLocks noGrp="1"/>
          </p:cNvSpPr>
          <p:nvPr/>
        </p:nvSpPr>
        <p:spPr>
          <a:xfrm>
            <a:off x="685800" y="7172325"/>
            <a:ext cx="93255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단위 구분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17F5D902-B863-4C86-9F24-1EBFD3085210}"/>
              </a:ext>
            </a:extLst>
          </p:cNvPr>
          <p:cNvSpPr>
            <a:spLocks noGrp="1"/>
          </p:cNvSpPr>
          <p:nvPr/>
        </p:nvSpPr>
        <p:spPr>
          <a:xfrm>
            <a:off x="685800" y="7534275"/>
            <a:ext cx="2882354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원·포인트를 근거 없이 환산하지 않음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EFCDC8BD-25A5-406B-9EC1-A0BB03505708}"/>
              </a:ext>
            </a:extLst>
          </p:cNvPr>
          <p:cNvSpPr>
            <a:spLocks noGrp="1"/>
          </p:cNvSpPr>
          <p:nvPr/>
        </p:nvSpPr>
        <p:spPr>
          <a:xfrm>
            <a:off x="6808738" y="7172325"/>
            <a:ext cx="93255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상태 보존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C6F9EA8F-C660-413F-B098-6DFEC422D2D4}"/>
              </a:ext>
            </a:extLst>
          </p:cNvPr>
          <p:cNvSpPr>
            <a:spLocks noGrp="1"/>
          </p:cNvSpPr>
          <p:nvPr/>
        </p:nvSpPr>
        <p:spPr>
          <a:xfrm>
            <a:off x="6808738" y="7534275"/>
            <a:ext cx="2173039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미확인·지원 밖 조건도 표시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FFB61D23-07E8-4328-A020-51A92E295DD8}"/>
              </a:ext>
            </a:extLst>
          </p:cNvPr>
          <p:cNvSpPr>
            <a:spLocks noGrp="1"/>
          </p:cNvSpPr>
          <p:nvPr/>
        </p:nvSpPr>
        <p:spPr>
          <a:xfrm>
            <a:off x="12222212" y="7172325"/>
            <a:ext cx="932557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업무 출력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9A2FF88F-8850-468D-9422-67200D22D6B6}"/>
              </a:ext>
            </a:extLst>
          </p:cNvPr>
          <p:cNvSpPr>
            <a:spLocks noGrp="1"/>
          </p:cNvSpPr>
          <p:nvPr/>
        </p:nvSpPr>
        <p:spPr>
          <a:xfrm>
            <a:off x="12222212" y="7534275"/>
            <a:ext cx="2484388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출처와 검토 상태를 포함한 CSV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DDB26906-7F6D-4162-8A8A-EBF7CF228E55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3843933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개념 시안 · 실제 상품·구현 결과가 아님 · 자동 우열 순위는 제공 범위 밖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BEE8AEC4-893B-47F2-ADBC-B89643CD8D5C}"/>
              </a:ext>
            </a:extLst>
          </p:cNvPr>
          <p:cNvSpPr>
            <a:spLocks noGrp="1"/>
          </p:cNvSpPr>
          <p:nvPr/>
        </p:nvSpPr>
        <p:spPr>
          <a:xfrm>
            <a:off x="14106079" y="8131969"/>
            <a:ext cx="600521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A1 / A6</a:t>
            </a:r>
          </a:p>
        </p:txBody>
      </p:sp>
    </p:spTree>
    <p:extLst>
      <p:ext uri="{BB962C8B-B14F-4D97-AF65-F5344CB8AC3E}">
        <p14:creationId xmlns:p14="http://schemas.microsoft.com/office/powerpoint/2010/main" val="486432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tml-0-slide appendix active">
            <a:extLst>
              <a:ext uri="{FF2B5EF4-FFF2-40B4-BE49-F238E27FC236}">
                <a16:creationId xmlns:a16="http://schemas.microsoft.com/office/drawing/2014/main" id="{7A8EA81E-7AAF-473C-9283-79B590AE45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6665D47F-9903-498B-A687-AC65046991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B2F30957-F341-4BE0-8E5B-217EE4774AB0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784747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부록 A2 · 선택과 검증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30BC105D-FF6A-42B8-9056-080A95CC5605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4721572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현재 제약에 맞게 선택하고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FCEA1D9A-7B34-429B-A9E8-725AD5ACB071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5389066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실험으로 적합성을 확인합니다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F4C7E19-C71C-4E78-8A90-60B893A91BC5}"/>
              </a:ext>
            </a:extLst>
          </p:cNvPr>
          <p:cNvGraphicFramePr/>
          <p:nvPr/>
        </p:nvGraphicFramePr>
        <p:xfrm>
          <a:off x="685800" y="2376785"/>
          <a:ext cx="13868399" cy="5489077"/>
        </p:xfrm>
        <a:graphic>
          <a:graphicData uri="http://schemas.openxmlformats.org/drawingml/2006/table">
            <a:tbl>
              <a:tblPr/>
              <a:tblGrid>
                <a:gridCol w="4021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2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212"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209550" marR="209550" marT="161925" marB="161925" anchor="ctr">
                    <a:lnL w="9525">
                      <a:solidFill>
                        <a:srgbClr val="D7DBED"/>
                      </a:solidFill>
                      <a:prstDash val="soli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>
                      <a:solidFill>
                        <a:srgbClr val="D7DBED"/>
                      </a:solidFill>
                      <a:prstDash val="soli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011B9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 근거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>
                      <a:solidFill>
                        <a:srgbClr val="D7DBED"/>
                      </a:solidFill>
                      <a:prstDash val="soli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011B9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한계·확인 방법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>
                      <a:solidFill>
                        <a:srgbClr val="D7DBED"/>
                      </a:solidFill>
                      <a:prstDash val="soli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011B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573"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011B9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소형 한국어 인코더</a:t>
                      </a:r>
                    </a:p>
                    <a:p>
                      <a:pPr algn="l"/>
                      <a:r>
                        <a:rPr sz="1350" b="0" i="0">
                          <a:solidFill>
                            <a:srgbClr val="636D8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PyTorch · Transformers</a:t>
                      </a:r>
                    </a:p>
                  </a:txBody>
                  <a:tcPr marL="209550" marR="209550" marT="161925" marB="161925" anchor="ctr">
                    <a:lnL w="9525">
                      <a:solidFill>
                        <a:srgbClr val="D7DBED"/>
                      </a:solidFill>
                      <a:prstDash val="soli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원문 구간을 학습해 추출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한국어 사전학습 가중치 활용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적은 주석의 한계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F1·CPU·RAM으로 후보 선정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573"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011B9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React · TypeScript</a:t>
                      </a:r>
                    </a:p>
                  </a:txBody>
                  <a:tcPr marL="209550" marR="209550" marT="161925" marB="161925" anchor="ctr">
                    <a:lnL w="9525">
                      <a:solidFill>
                        <a:srgbClr val="D7DBED"/>
                      </a:solidFill>
                      <a:prstDash val="soli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 보기·수정·비교의 상호작용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담당자의 기존 역량 활용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화면 간 상태 일치 확인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TypeScript만으로 응답 내용은 검증 불가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573"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011B9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FastAPI · Pydantic</a:t>
                      </a:r>
                    </a:p>
                  </a:txBody>
                  <a:tcPr marL="209550" marR="209550" marT="161925" marB="161925" anchor="ctr">
                    <a:lnL w="9525">
                      <a:solidFill>
                        <a:srgbClr val="D7DBED"/>
                      </a:solidFill>
                      <a:prstDash val="soli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Python 분석 코드 직접 연결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API 형식과 필수값 검사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형식 검증과 내용 검증 구분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금융 조건은 원문 대조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573"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011B9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SQLite</a:t>
                      </a:r>
                    </a:p>
                  </a:txBody>
                  <a:tcPr marL="209550" marR="209550" marT="161925" marB="161925" anchor="ctr">
                    <a:lnL w="9525">
                      <a:solidFill>
                        <a:srgbClr val="D7DBED"/>
                      </a:solidFill>
                      <a:prstDash val="soli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문서·예측·수정 이력 관계 저장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별도 DB 서버 없이 로컬 실행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제한된 동시 사용 전제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수정 충돌과 트랜잭션 확인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8573">
                <a:tc>
                  <a:txBody>
                    <a:bodyPr/>
                    <a:lstStyle/>
                    <a:p>
                      <a:pPr algn="l"/>
                      <a:r>
                        <a:rPr sz="1725" b="1" i="0">
                          <a:solidFill>
                            <a:srgbClr val="011B9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Docker · 단일 서버</a:t>
                      </a:r>
                    </a:p>
                  </a:txBody>
                  <a:tcPr marL="209550" marR="209550" marT="161925" marB="161925" anchor="ctr">
                    <a:lnL w="9525">
                      <a:solidFill>
                        <a:srgbClr val="D7DBED"/>
                      </a:solidFill>
                      <a:prstDash val="soli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의존성과 실행 절차 정리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운영 구성요소의 수 제한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장비별 성능 차이는 남음</a:t>
                      </a:r>
                    </a:p>
                    <a:p>
                      <a:pPr algn="l"/>
                      <a:r>
                        <a:rPr sz="1725" b="0" i="0">
                          <a:solidFill>
                            <a:srgbClr val="505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평가 환경과 버전 기록</a:t>
                      </a:r>
                    </a:p>
                  </a:txBody>
                  <a:tcPr marL="209550" marR="209550" marT="161925" marB="161925" anchor="ctr">
                    <a:lnL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BED"/>
                      </a:solidFill>
                      <a:prstDash val="solid"/>
                    </a:lnR>
                    <a:lnT w="9525" cap="flat" cmpd="sng" algn="ctr">
                      <a:solidFill>
                        <a:srgbClr val="D7D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B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html-text-6">
            <a:extLst>
              <a:ext uri="{FF2B5EF4-FFF2-40B4-BE49-F238E27FC236}">
                <a16:creationId xmlns:a16="http://schemas.microsoft.com/office/drawing/2014/main" id="{BABF6D55-7BF7-4D4C-9F32-C4392579D436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34671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범용적인 기술 우열이 아닌 이번 과제의 요구와 자원에 따른 선택</a:t>
            </a: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EDFBD9B5-E473-485F-B209-D77DA9A98FBC}"/>
              </a:ext>
            </a:extLst>
          </p:cNvPr>
          <p:cNvSpPr>
            <a:spLocks noGrp="1"/>
          </p:cNvSpPr>
          <p:nvPr/>
        </p:nvSpPr>
        <p:spPr>
          <a:xfrm>
            <a:off x="14083159" y="8131969"/>
            <a:ext cx="623441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A2 / A6</a:t>
            </a:r>
          </a:p>
        </p:txBody>
      </p:sp>
    </p:spTree>
    <p:extLst>
      <p:ext uri="{BB962C8B-B14F-4D97-AF65-F5344CB8AC3E}">
        <p14:creationId xmlns:p14="http://schemas.microsoft.com/office/powerpoint/2010/main" val="1808806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tml-0-slide appendix active">
            <a:extLst>
              <a:ext uri="{FF2B5EF4-FFF2-40B4-BE49-F238E27FC236}">
                <a16:creationId xmlns:a16="http://schemas.microsoft.com/office/drawing/2014/main" id="{51D1B8DB-278D-4AEF-A325-BA1E4FD564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54ADF7AE-6552-4755-81B3-5495E7D625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1B3933B5-C96B-4BB5-81E7-BF0333427C92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2323654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부록 A3 · 오류를 나누어 확인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828DE674-D541-48B2-84A1-6B2AE9DB9C05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6410771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모델·규칙·사람의 책임을 분리합니다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1FB8F4-A993-4A4F-BD69-34E4AD731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28698" y="1950023"/>
            <a:ext cx="8582604" cy="3476399"/>
          </a:xfrm>
          <a:prstGeom prst="rect">
            <a:avLst/>
          </a:prstGeom>
        </p:spPr>
      </p:pic>
      <p:sp>
        <p:nvSpPr>
          <p:cNvPr id="6" name="html-5-normalization-example">
            <a:extLst>
              <a:ext uri="{FF2B5EF4-FFF2-40B4-BE49-F238E27FC236}">
                <a16:creationId xmlns:a16="http://schemas.microsoft.com/office/drawing/2014/main" id="{EFE212DF-7528-4B2A-8183-150E521D7875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3868400" cy="1456283"/>
          </a:xfrm>
          <a:prstGeom prst="rect">
            <a:avLst/>
          </a:prstGeom>
          <a:solidFill>
            <a:srgbClr val="EDEEF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html-text-6">
            <a:extLst>
              <a:ext uri="{FF2B5EF4-FFF2-40B4-BE49-F238E27FC236}">
                <a16:creationId xmlns:a16="http://schemas.microsoft.com/office/drawing/2014/main" id="{2368F3FD-211D-4CA4-BCD4-61C40E993F2A}"/>
              </a:ext>
            </a:extLst>
          </p:cNvPr>
          <p:cNvSpPr>
            <a:spLocks noGrp="1"/>
          </p:cNvSpPr>
          <p:nvPr/>
        </p:nvSpPr>
        <p:spPr>
          <a:xfrm>
            <a:off x="923925" y="6485930"/>
            <a:ext cx="982861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0" i="0" spc="0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설명용 예시</a:t>
            </a: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8E68EAE1-08B7-4B5B-9874-69136A7E6875}"/>
              </a:ext>
            </a:extLst>
          </p:cNvPr>
          <p:cNvSpPr>
            <a:spLocks noGrp="1"/>
          </p:cNvSpPr>
          <p:nvPr/>
        </p:nvSpPr>
        <p:spPr>
          <a:xfrm>
            <a:off x="2543175" y="6419255"/>
            <a:ext cx="2314426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17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“전월 30만원 이상”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3DE6C4A0-8B9E-4BB3-92E0-D483B450B76C}"/>
              </a:ext>
            </a:extLst>
          </p:cNvPr>
          <p:cNvSpPr>
            <a:spLocks noGrp="1"/>
          </p:cNvSpPr>
          <p:nvPr/>
        </p:nvSpPr>
        <p:spPr>
          <a:xfrm>
            <a:off x="5686425" y="6115050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모델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0DE4372E-5B8E-4C2B-B578-EEF38362F6CF}"/>
              </a:ext>
            </a:extLst>
          </p:cNvPr>
          <p:cNvSpPr>
            <a:spLocks noGrp="1"/>
          </p:cNvSpPr>
          <p:nvPr/>
        </p:nvSpPr>
        <p:spPr>
          <a:xfrm>
            <a:off x="6286500" y="6115050"/>
            <a:ext cx="1822996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전월 실적 구간 추출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BEC71717-40FC-40EE-90DC-4D2B8E5FBC63}"/>
              </a:ext>
            </a:extLst>
          </p:cNvPr>
          <p:cNvSpPr>
            <a:spLocks noGrp="1"/>
          </p:cNvSpPr>
          <p:nvPr/>
        </p:nvSpPr>
        <p:spPr>
          <a:xfrm>
            <a:off x="5686425" y="6460778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규칙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B831DF22-676E-444B-891C-E7972BF5E0A1}"/>
              </a:ext>
            </a:extLst>
          </p:cNvPr>
          <p:cNvSpPr>
            <a:spLocks noGrp="1"/>
          </p:cNvSpPr>
          <p:nvPr/>
        </p:nvSpPr>
        <p:spPr>
          <a:xfrm>
            <a:off x="6286500" y="6460778"/>
            <a:ext cx="287982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값 300000 · 단위 원 · 연산자 ≥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BC35D08E-CA5B-4C22-94B8-391403DA7918}"/>
              </a:ext>
            </a:extLst>
          </p:cNvPr>
          <p:cNvSpPr>
            <a:spLocks noGrp="1"/>
          </p:cNvSpPr>
          <p:nvPr/>
        </p:nvSpPr>
        <p:spPr>
          <a:xfrm>
            <a:off x="5686425" y="6806505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사람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9F815D2A-0B9A-4676-9407-EE1C7465DFC0}"/>
              </a:ext>
            </a:extLst>
          </p:cNvPr>
          <p:cNvSpPr>
            <a:spLocks noGrp="1"/>
          </p:cNvSpPr>
          <p:nvPr/>
        </p:nvSpPr>
        <p:spPr>
          <a:xfrm>
            <a:off x="6286500" y="6806505"/>
            <a:ext cx="314697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해당 혜택에 적용되는 조건인지 확인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604410A5-4CCC-48F2-B7EA-6CA41B8D1410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4119414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사람의 정답 추출을 공통 후처리에 넣어 추출 오류와 정규화·연결 오류를 구분</a:t>
            </a:r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AD1E147B-E790-4587-8B02-4C51A2835323}"/>
              </a:ext>
            </a:extLst>
          </p:cNvPr>
          <p:cNvSpPr>
            <a:spLocks noGrp="1"/>
          </p:cNvSpPr>
          <p:nvPr/>
        </p:nvSpPr>
        <p:spPr>
          <a:xfrm>
            <a:off x="14083010" y="8131969"/>
            <a:ext cx="62359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A3 / A6</a:t>
            </a:r>
          </a:p>
        </p:txBody>
      </p:sp>
    </p:spTree>
    <p:extLst>
      <p:ext uri="{BB962C8B-B14F-4D97-AF65-F5344CB8AC3E}">
        <p14:creationId xmlns:p14="http://schemas.microsoft.com/office/powerpoint/2010/main" val="1708249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tml-0-slide appendix active">
            <a:extLst>
              <a:ext uri="{FF2B5EF4-FFF2-40B4-BE49-F238E27FC236}">
                <a16:creationId xmlns:a16="http://schemas.microsoft.com/office/drawing/2014/main" id="{85120F5B-B45D-4E1A-8463-173BE610D4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BB8369BE-D876-40EC-8BA7-7BE1E48EE9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02D808B7-A72B-4AED-AC8B-A4B2AE59A9C7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796653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부록 A4 · 데이터 구조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0D4B5E5F-8EB8-4074-86DD-15C20D7190EE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6654403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수정하더라도 원래 예측을 보존합니다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F5A80C-B81A-4257-BF82-27B3DB0A7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55168" y="1960435"/>
            <a:ext cx="9129665" cy="3905250"/>
          </a:xfrm>
          <a:prstGeom prst="rect">
            <a:avLst/>
          </a:prstGeom>
        </p:spPr>
      </p:pic>
      <p:sp>
        <p:nvSpPr>
          <p:cNvPr id="6" name="html-5-border">
            <a:extLst>
              <a:ext uri="{FF2B5EF4-FFF2-40B4-BE49-F238E27FC236}">
                <a16:creationId xmlns:a16="http://schemas.microsoft.com/office/drawing/2014/main" id="{04A6FD2B-C9F4-4B56-9E8E-923EA035512F}"/>
              </a:ext>
            </a:extLst>
          </p:cNvPr>
          <p:cNvSpPr>
            <a:spLocks noGrp="1"/>
          </p:cNvSpPr>
          <p:nvPr/>
        </p:nvSpPr>
        <p:spPr>
          <a:xfrm>
            <a:off x="685800" y="6257925"/>
            <a:ext cx="13868400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html-text-6">
            <a:extLst>
              <a:ext uri="{FF2B5EF4-FFF2-40B4-BE49-F238E27FC236}">
                <a16:creationId xmlns:a16="http://schemas.microsoft.com/office/drawing/2014/main" id="{0F62AE63-AEE1-47C8-B21C-9C9858E6F2A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C429FCE2-0778-4445-A6ED-6B6853743FE6}"/>
              </a:ext>
            </a:extLst>
          </p:cNvPr>
          <p:cNvSpPr>
            <a:spLocks noGrp="1"/>
          </p:cNvSpPr>
          <p:nvPr/>
        </p:nvSpPr>
        <p:spPr>
          <a:xfrm>
            <a:off x="685800" y="6819900"/>
            <a:ext cx="2568029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문서 버전·페이지·블록·문자 위치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E791EFB9-694C-46B0-9A65-72A3BF9EB060}"/>
              </a:ext>
            </a:extLst>
          </p:cNvPr>
          <p:cNvSpPr>
            <a:spLocks noGrp="1"/>
          </p:cNvSpPr>
          <p:nvPr/>
        </p:nvSpPr>
        <p:spPr>
          <a:xfrm>
            <a:off x="6728668" y="6457950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E614473F-9893-43EA-97B9-494921790038}"/>
              </a:ext>
            </a:extLst>
          </p:cNvPr>
          <p:cNvSpPr>
            <a:spLocks noGrp="1"/>
          </p:cNvSpPr>
          <p:nvPr/>
        </p:nvSpPr>
        <p:spPr>
          <a:xfrm>
            <a:off x="6728668" y="6819900"/>
            <a:ext cx="2173039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모델·규칙 버전과 원래 예측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0743F66D-0CC4-4726-86CB-388E7EF68F9B}"/>
              </a:ext>
            </a:extLst>
          </p:cNvPr>
          <p:cNvSpPr>
            <a:spLocks noGrp="1"/>
          </p:cNvSpPr>
          <p:nvPr/>
        </p:nvSpPr>
        <p:spPr>
          <a:xfrm>
            <a:off x="12376398" y="6457950"/>
            <a:ext cx="51494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검토</a:t>
            </a:r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C885F941-C37E-4231-AAD7-012F3DC6C410}"/>
              </a:ext>
            </a:extLst>
          </p:cNvPr>
          <p:cNvSpPr>
            <a:spLocks noGrp="1"/>
          </p:cNvSpPr>
          <p:nvPr/>
        </p:nvSpPr>
        <p:spPr>
          <a:xfrm>
            <a:off x="12376398" y="6819900"/>
            <a:ext cx="2330202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0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수정 기록과 재검토 필요 상태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ADC56B93-45A5-495D-B98E-E04E321935AF}"/>
              </a:ext>
            </a:extLst>
          </p:cNvPr>
          <p:cNvSpPr>
            <a:spLocks noGrp="1"/>
          </p:cNvSpPr>
          <p:nvPr/>
        </p:nvSpPr>
        <p:spPr>
          <a:xfrm>
            <a:off x="4557117" y="7381875"/>
            <a:ext cx="6278166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75" b="0" i="0" spc="0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문서나 조건이 바뀌면 기존 승인·비교 결과의 재검토를 표시합니다.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8F9ED60F-A6E6-4E31-B6FA-6EDA17B03D14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335027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토큰 위치를 바로 PDF 좌표로 간주하지 않고 보존 원문에 연결</a:t>
            </a: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8E59ECCD-9F55-4880-A595-B00D7D0C13FC}"/>
              </a:ext>
            </a:extLst>
          </p:cNvPr>
          <p:cNvSpPr>
            <a:spLocks noGrp="1"/>
          </p:cNvSpPr>
          <p:nvPr/>
        </p:nvSpPr>
        <p:spPr>
          <a:xfrm>
            <a:off x="14075718" y="8131969"/>
            <a:ext cx="630882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A4 / A6</a:t>
            </a:r>
          </a:p>
        </p:txBody>
      </p:sp>
    </p:spTree>
    <p:extLst>
      <p:ext uri="{BB962C8B-B14F-4D97-AF65-F5344CB8AC3E}">
        <p14:creationId xmlns:p14="http://schemas.microsoft.com/office/powerpoint/2010/main" val="423125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tml-0-slide appendix active">
            <a:extLst>
              <a:ext uri="{FF2B5EF4-FFF2-40B4-BE49-F238E27FC236}">
                <a16:creationId xmlns:a16="http://schemas.microsoft.com/office/drawing/2014/main" id="{937B18A4-7AFB-4E2E-B032-6934F7CAC6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html-1-border">
            <a:extLst>
              <a:ext uri="{FF2B5EF4-FFF2-40B4-BE49-F238E27FC236}">
                <a16:creationId xmlns:a16="http://schemas.microsoft.com/office/drawing/2014/main" id="{6CB4D3B7-561D-4793-97E4-D6B1BAE5AA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FB4B7AE6-EBCE-430D-8CCD-8492BB68808E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619696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부록 A5 · 확인 상태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7B82252B-4C28-4C62-8B54-8FE946A4C489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3069729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찾지 못한 조건을</a:t>
            </a:r>
          </a:p>
        </p:txBody>
      </p:sp>
      <p:sp>
        <p:nvSpPr>
          <p:cNvPr id="5" name="html-text-4">
            <a:extLst>
              <a:ext uri="{FF2B5EF4-FFF2-40B4-BE49-F238E27FC236}">
                <a16:creationId xmlns:a16="http://schemas.microsoft.com/office/drawing/2014/main" id="{6128D047-1141-4BEF-A12E-0F17248A5536}"/>
              </a:ext>
            </a:extLst>
          </p:cNvPr>
          <p:cNvSpPr>
            <a:spLocks noGrp="1"/>
          </p:cNvSpPr>
          <p:nvPr/>
        </p:nvSpPr>
        <p:spPr>
          <a:xfrm>
            <a:off x="685800" y="1521768"/>
            <a:ext cx="5732115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‘조건 없음’으로 바꾸지 않습니다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721AF7-73A8-47EE-B597-8CC3E0FE5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4974" y="2325950"/>
            <a:ext cx="7412787" cy="5559590"/>
          </a:xfrm>
          <a:prstGeom prst="rect">
            <a:avLst/>
          </a:prstGeom>
        </p:spPr>
      </p:pic>
      <p:sp>
        <p:nvSpPr>
          <p:cNvPr id="7" name="html-6-border">
            <a:extLst>
              <a:ext uri="{FF2B5EF4-FFF2-40B4-BE49-F238E27FC236}">
                <a16:creationId xmlns:a16="http://schemas.microsoft.com/office/drawing/2014/main" id="{C4B36EE6-DA53-4DA6-ACEB-B6164855C56A}"/>
              </a:ext>
            </a:extLst>
          </p:cNvPr>
          <p:cNvSpPr>
            <a:spLocks noGrp="1"/>
          </p:cNvSpPr>
          <p:nvPr/>
        </p:nvSpPr>
        <p:spPr>
          <a:xfrm>
            <a:off x="9851380" y="3107085"/>
            <a:ext cx="4702820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tml-text-7">
            <a:extLst>
              <a:ext uri="{FF2B5EF4-FFF2-40B4-BE49-F238E27FC236}">
                <a16:creationId xmlns:a16="http://schemas.microsoft.com/office/drawing/2014/main" id="{B19A3650-AFD4-4452-95E3-9A9689E57A67}"/>
              </a:ext>
            </a:extLst>
          </p:cNvPr>
          <p:cNvSpPr>
            <a:spLocks noGrp="1"/>
          </p:cNvSpPr>
          <p:nvPr/>
        </p:nvSpPr>
        <p:spPr>
          <a:xfrm>
            <a:off x="9851380" y="3249960"/>
            <a:ext cx="1332458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명시된 내용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C860CEDF-0E21-4B8E-B99E-6DBC98E9BA00}"/>
              </a:ext>
            </a:extLst>
          </p:cNvPr>
          <p:cNvSpPr>
            <a:spLocks noGrp="1"/>
          </p:cNvSpPr>
          <p:nvPr/>
        </p:nvSpPr>
        <p:spPr>
          <a:xfrm>
            <a:off x="9851380" y="3697635"/>
            <a:ext cx="1949202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값과 원문 근거를 연결</a:t>
            </a:r>
          </a:p>
        </p:txBody>
      </p:sp>
      <p:sp>
        <p:nvSpPr>
          <p:cNvPr id="10" name="html-text-9">
            <a:extLst>
              <a:ext uri="{FF2B5EF4-FFF2-40B4-BE49-F238E27FC236}">
                <a16:creationId xmlns:a16="http://schemas.microsoft.com/office/drawing/2014/main" id="{FF24DFC3-5A6A-4A75-9393-71992D8EBFD5}"/>
              </a:ext>
            </a:extLst>
          </p:cNvPr>
          <p:cNvSpPr>
            <a:spLocks noGrp="1"/>
          </p:cNvSpPr>
          <p:nvPr/>
        </p:nvSpPr>
        <p:spPr>
          <a:xfrm>
            <a:off x="9851380" y="4032796"/>
            <a:ext cx="263515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‘없음·무제한’도 명시 근거 필요</a:t>
            </a:r>
          </a:p>
        </p:txBody>
      </p:sp>
      <p:sp>
        <p:nvSpPr>
          <p:cNvPr id="11" name="html-10-border">
            <a:extLst>
              <a:ext uri="{FF2B5EF4-FFF2-40B4-BE49-F238E27FC236}">
                <a16:creationId xmlns:a16="http://schemas.microsoft.com/office/drawing/2014/main" id="{8DDB807E-BBA1-4191-A91C-97C03D5515C7}"/>
              </a:ext>
            </a:extLst>
          </p:cNvPr>
          <p:cNvSpPr>
            <a:spLocks noGrp="1"/>
          </p:cNvSpPr>
          <p:nvPr/>
        </p:nvSpPr>
        <p:spPr>
          <a:xfrm>
            <a:off x="9851380" y="4558457"/>
            <a:ext cx="4702820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html-text-11">
            <a:extLst>
              <a:ext uri="{FF2B5EF4-FFF2-40B4-BE49-F238E27FC236}">
                <a16:creationId xmlns:a16="http://schemas.microsoft.com/office/drawing/2014/main" id="{5AFF4A28-C788-4D0A-BE2E-FFB69D6907B6}"/>
              </a:ext>
            </a:extLst>
          </p:cNvPr>
          <p:cNvSpPr>
            <a:spLocks noGrp="1"/>
          </p:cNvSpPr>
          <p:nvPr/>
        </p:nvSpPr>
        <p:spPr>
          <a:xfrm>
            <a:off x="9851380" y="4701332"/>
            <a:ext cx="819894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미확인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A32A98CE-B2BE-4185-9940-E6AA7116C221}"/>
              </a:ext>
            </a:extLst>
          </p:cNvPr>
          <p:cNvSpPr>
            <a:spLocks noGrp="1"/>
          </p:cNvSpPr>
          <p:nvPr/>
        </p:nvSpPr>
        <p:spPr>
          <a:xfrm>
            <a:off x="9851380" y="5149007"/>
            <a:ext cx="249287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조건이나 소속 관계가 불명확</a:t>
            </a:r>
          </a:p>
        </p:txBody>
      </p:sp>
      <p:sp>
        <p:nvSpPr>
          <p:cNvPr id="14" name="html-text-13">
            <a:extLst>
              <a:ext uri="{FF2B5EF4-FFF2-40B4-BE49-F238E27FC236}">
                <a16:creationId xmlns:a16="http://schemas.microsoft.com/office/drawing/2014/main" id="{E079078C-E6EC-4AF2-9998-AEE3BD69B76A}"/>
              </a:ext>
            </a:extLst>
          </p:cNvPr>
          <p:cNvSpPr>
            <a:spLocks noGrp="1"/>
          </p:cNvSpPr>
          <p:nvPr/>
        </p:nvSpPr>
        <p:spPr>
          <a:xfrm>
            <a:off x="9851380" y="5484168"/>
            <a:ext cx="2492871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자동으로 추정해 채우지 않음</a:t>
            </a:r>
          </a:p>
        </p:txBody>
      </p:sp>
      <p:sp>
        <p:nvSpPr>
          <p:cNvPr id="15" name="html-14-border">
            <a:extLst>
              <a:ext uri="{FF2B5EF4-FFF2-40B4-BE49-F238E27FC236}">
                <a16:creationId xmlns:a16="http://schemas.microsoft.com/office/drawing/2014/main" id="{D3FD4FE3-8B4D-4876-89ED-8FA81F537358}"/>
              </a:ext>
            </a:extLst>
          </p:cNvPr>
          <p:cNvSpPr>
            <a:spLocks noGrp="1"/>
          </p:cNvSpPr>
          <p:nvPr/>
        </p:nvSpPr>
        <p:spPr>
          <a:xfrm>
            <a:off x="9851380" y="6009829"/>
            <a:ext cx="4702820" cy="19050"/>
          </a:xfrm>
          <a:prstGeom prst="rect">
            <a:avLst/>
          </a:prstGeom>
          <a:solidFill>
            <a:srgbClr val="D7DB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html-text-15">
            <a:extLst>
              <a:ext uri="{FF2B5EF4-FFF2-40B4-BE49-F238E27FC236}">
                <a16:creationId xmlns:a16="http://schemas.microsoft.com/office/drawing/2014/main" id="{84E6ED31-C048-44FC-AECB-3EF39D866064}"/>
              </a:ext>
            </a:extLst>
          </p:cNvPr>
          <p:cNvSpPr>
            <a:spLocks noGrp="1"/>
          </p:cNvSpPr>
          <p:nvPr/>
        </p:nvSpPr>
        <p:spPr>
          <a:xfrm>
            <a:off x="9851380" y="6152704"/>
            <a:ext cx="1922859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20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지원 밖·처리 실패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1569B047-CC68-4195-BBBD-23301F45D6EC}"/>
              </a:ext>
            </a:extLst>
          </p:cNvPr>
          <p:cNvSpPr>
            <a:spLocks noGrp="1"/>
          </p:cNvSpPr>
          <p:nvPr/>
        </p:nvSpPr>
        <p:spPr>
          <a:xfrm>
            <a:off x="9851380" y="6600379"/>
            <a:ext cx="21304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원문과 검토 대상을 보존</a:t>
            </a:r>
          </a:p>
        </p:txBody>
      </p:sp>
      <p:sp>
        <p:nvSpPr>
          <p:cNvPr id="18" name="html-text-17">
            <a:extLst>
              <a:ext uri="{FF2B5EF4-FFF2-40B4-BE49-F238E27FC236}">
                <a16:creationId xmlns:a16="http://schemas.microsoft.com/office/drawing/2014/main" id="{1460AF82-131F-452F-AD0B-F3D567461184}"/>
              </a:ext>
            </a:extLst>
          </p:cNvPr>
          <p:cNvSpPr>
            <a:spLocks noGrp="1"/>
          </p:cNvSpPr>
          <p:nvPr/>
        </p:nvSpPr>
        <p:spPr>
          <a:xfrm>
            <a:off x="9851380" y="6935539"/>
            <a:ext cx="2965698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6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분석 실패는 별도 오류 상태로 안내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BAFE3E4D-1602-4442-BF04-6B4DCFF1B4B2}"/>
              </a:ext>
            </a:extLst>
          </p:cNvPr>
          <p:cNvSpPr>
            <a:spLocks noGrp="1"/>
          </p:cNvSpPr>
          <p:nvPr/>
        </p:nvSpPr>
        <p:spPr>
          <a:xfrm>
            <a:off x="685800" y="8138368"/>
            <a:ext cx="2975967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050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조건의 확인 상태와 사람의 검토·승인 상태는 별도 관리</a:t>
            </a:r>
          </a:p>
        </p:txBody>
      </p:sp>
      <p:sp>
        <p:nvSpPr>
          <p:cNvPr id="20" name="html-text-19">
            <a:extLst>
              <a:ext uri="{FF2B5EF4-FFF2-40B4-BE49-F238E27FC236}">
                <a16:creationId xmlns:a16="http://schemas.microsoft.com/office/drawing/2014/main" id="{57BC62FB-130E-4B39-8515-B80A519AB297}"/>
              </a:ext>
            </a:extLst>
          </p:cNvPr>
          <p:cNvSpPr>
            <a:spLocks noGrp="1"/>
          </p:cNvSpPr>
          <p:nvPr/>
        </p:nvSpPr>
        <p:spPr>
          <a:xfrm>
            <a:off x="14086284" y="8131969"/>
            <a:ext cx="620316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A5 / A6</a:t>
            </a:r>
          </a:p>
        </p:txBody>
      </p:sp>
    </p:spTree>
    <p:extLst>
      <p:ext uri="{BB962C8B-B14F-4D97-AF65-F5344CB8AC3E}">
        <p14:creationId xmlns:p14="http://schemas.microsoft.com/office/powerpoint/2010/main" val="1960303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-1-border">
            <a:extLst>
              <a:ext uri="{FF2B5EF4-FFF2-40B4-BE49-F238E27FC236}">
                <a16:creationId xmlns:a16="http://schemas.microsoft.com/office/drawing/2014/main" id="{EBDCB391-2B21-4481-BCA1-3F94979F59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85725"/>
          </a:xfrm>
          <a:prstGeom prst="rect">
            <a:avLst/>
          </a:prstGeom>
          <a:solidFill>
            <a:srgbClr val="5C6CB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html-text-2">
            <a:extLst>
              <a:ext uri="{FF2B5EF4-FFF2-40B4-BE49-F238E27FC236}">
                <a16:creationId xmlns:a16="http://schemas.microsoft.com/office/drawing/2014/main" id="{1346DB88-5059-4417-858A-7771A52F82A6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6319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425" b="1" i="0" spc="43">
                <a:solidFill>
                  <a:srgbClr val="5C6CBD"/>
                </a:solidFill>
                <a:latin typeface="Apple SD Gothic Neo"/>
                <a:ea typeface="Apple SD Gothic Neo"/>
                <a:cs typeface="Apple SD Gothic Neo"/>
              </a:rPr>
              <a:t>부록 A6 · 근거 자료</a:t>
            </a:r>
          </a:p>
        </p:txBody>
      </p:sp>
      <p:sp>
        <p:nvSpPr>
          <p:cNvPr id="4" name="html-text-3">
            <a:extLst>
              <a:ext uri="{FF2B5EF4-FFF2-40B4-BE49-F238E27FC236}">
                <a16:creationId xmlns:a16="http://schemas.microsoft.com/office/drawing/2014/main" id="{EED2C1D8-A42D-4E7D-827C-1B92900B35BF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6373416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3675" b="1" i="0" spc="-135">
                <a:solidFill>
                  <a:srgbClr val="111B53"/>
                </a:solidFill>
                <a:latin typeface="Apple SD Gothic Neo"/>
                <a:ea typeface="Apple SD Gothic Neo"/>
                <a:cs typeface="Apple SD Gothic Neo"/>
              </a:rPr>
              <a:t>공식 조건과 선행 기술을 확인합니다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BDFFAE-13BA-4368-B520-D7700B3E1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93"/>
          <a:stretch>
            <a:fillRect/>
          </a:stretch>
        </p:blipFill>
        <p:spPr>
          <a:xfrm>
            <a:off x="970643" y="2515354"/>
            <a:ext cx="4004690" cy="4755161"/>
          </a:xfrm>
          <a:prstGeom prst="rect">
            <a:avLst/>
          </a:prstGeom>
        </p:spPr>
      </p:pic>
      <p:sp>
        <p:nvSpPr>
          <p:cNvPr id="6" name="html-text-5">
            <a:extLst>
              <a:ext uri="{FF2B5EF4-FFF2-40B4-BE49-F238E27FC236}">
                <a16:creationId xmlns:a16="http://schemas.microsoft.com/office/drawing/2014/main" id="{B0618ACB-E09B-46B9-8FF9-6D6B391744BE}"/>
              </a:ext>
            </a:extLst>
          </p:cNvPr>
          <p:cNvSpPr>
            <a:spLocks noGrp="1"/>
          </p:cNvSpPr>
          <p:nvPr/>
        </p:nvSpPr>
        <p:spPr>
          <a:xfrm>
            <a:off x="1237330" y="2379064"/>
            <a:ext cx="755303" cy="19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2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혜택 본문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7DC846-4E74-4A76-83EF-027AA34C1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85137" y="2711807"/>
            <a:ext cx="5261266" cy="4183954"/>
          </a:xfrm>
          <a:prstGeom prst="rect">
            <a:avLst/>
          </a:prstGeom>
        </p:spPr>
      </p:pic>
      <p:sp>
        <p:nvSpPr>
          <p:cNvPr id="8" name="html-text-7">
            <a:extLst>
              <a:ext uri="{FF2B5EF4-FFF2-40B4-BE49-F238E27FC236}">
                <a16:creationId xmlns:a16="http://schemas.microsoft.com/office/drawing/2014/main" id="{C13B5BE7-8245-4C3D-A4B0-622BF7C674AE}"/>
              </a:ext>
            </a:extLst>
          </p:cNvPr>
          <p:cNvSpPr>
            <a:spLocks noGrp="1"/>
          </p:cNvSpPr>
          <p:nvPr/>
        </p:nvSpPr>
        <p:spPr>
          <a:xfrm>
            <a:off x="5417895" y="2404828"/>
            <a:ext cx="1687413" cy="19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2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2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결제 </a:t>
            </a:r>
            <a:r>
              <a:rPr lang="ko-KR" sz="1275" b="0" i="0" spc="0" dirty="0" err="1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경로·한도</a:t>
            </a:r>
            <a:r>
              <a:rPr lang="ko-KR" sz="12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rPr>
              <a:t> 유의사항</a:t>
            </a:r>
          </a:p>
        </p:txBody>
      </p:sp>
      <p:sp>
        <p:nvSpPr>
          <p:cNvPr id="9" name="html-text-8">
            <a:extLst>
              <a:ext uri="{FF2B5EF4-FFF2-40B4-BE49-F238E27FC236}">
                <a16:creationId xmlns:a16="http://schemas.microsoft.com/office/drawing/2014/main" id="{D8DD6929-AB9A-4682-AAC0-0ACB6121D7BE}"/>
              </a:ext>
            </a:extLst>
          </p:cNvPr>
          <p:cNvSpPr>
            <a:spLocks noGrp="1"/>
          </p:cNvSpPr>
          <p:nvPr/>
        </p:nvSpPr>
        <p:spPr>
          <a:xfrm>
            <a:off x="11160495" y="2381250"/>
            <a:ext cx="100354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00" b="1" i="0" spc="0" dirty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상품 조건</a:t>
            </a:r>
          </a:p>
        </p:txBody>
      </p:sp>
      <p:sp>
        <p:nvSpPr>
          <p:cNvPr id="11" name="html-text-10">
            <a:extLst>
              <a:ext uri="{FF2B5EF4-FFF2-40B4-BE49-F238E27FC236}">
                <a16:creationId xmlns:a16="http://schemas.microsoft.com/office/drawing/2014/main" id="{047F60BB-FA86-4B45-93AA-1E460AE8E935}"/>
              </a:ext>
            </a:extLst>
          </p:cNvPr>
          <p:cNvSpPr>
            <a:spLocks noGrp="1"/>
          </p:cNvSpPr>
          <p:nvPr/>
        </p:nvSpPr>
        <p:spPr>
          <a:xfrm>
            <a:off x="11160495" y="2809875"/>
            <a:ext cx="2861221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5"/>
              </a:rPr>
              <a:t>KB국민 My WE:SH 카드 공식 안내</a:t>
            </a:r>
          </a:p>
        </p:txBody>
      </p:sp>
      <p:sp>
        <p:nvSpPr>
          <p:cNvPr id="13" name="html-text-12">
            <a:extLst>
              <a:ext uri="{FF2B5EF4-FFF2-40B4-BE49-F238E27FC236}">
                <a16:creationId xmlns:a16="http://schemas.microsoft.com/office/drawing/2014/main" id="{B1816EC4-DA41-45FF-A09F-A7781C26A0AD}"/>
              </a:ext>
            </a:extLst>
          </p:cNvPr>
          <p:cNvSpPr>
            <a:spLocks noGrp="1"/>
          </p:cNvSpPr>
          <p:nvPr/>
        </p:nvSpPr>
        <p:spPr>
          <a:xfrm>
            <a:off x="11160495" y="3285748"/>
            <a:ext cx="146833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00" b="1" i="0" spc="0" dirty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선행 </a:t>
            </a:r>
            <a:r>
              <a:rPr lang="ko-KR" sz="1800" b="1" i="0" spc="0" dirty="0" err="1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연구·구현</a:t>
            </a:r>
            <a:endParaRPr lang="ko-KR" sz="1800" b="1" i="0" spc="0" dirty="0">
              <a:solidFill>
                <a:srgbClr val="011B9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html-text-14">
            <a:extLst>
              <a:ext uri="{FF2B5EF4-FFF2-40B4-BE49-F238E27FC236}">
                <a16:creationId xmlns:a16="http://schemas.microsoft.com/office/drawing/2014/main" id="{511EFF07-648D-48C1-8286-09F9EBE17A2E}"/>
              </a:ext>
            </a:extLst>
          </p:cNvPr>
          <p:cNvSpPr>
            <a:spLocks noGrp="1"/>
          </p:cNvSpPr>
          <p:nvPr/>
        </p:nvSpPr>
        <p:spPr>
          <a:xfrm>
            <a:off x="11179230" y="3745270"/>
            <a:ext cx="2902446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6"/>
              </a:rPr>
              <a:t>Clark et al., ELECTRA, ICLR 2020</a:t>
            </a:r>
          </a:p>
        </p:txBody>
      </p:sp>
      <p:sp>
        <p:nvSpPr>
          <p:cNvPr id="17" name="html-text-16">
            <a:extLst>
              <a:ext uri="{FF2B5EF4-FFF2-40B4-BE49-F238E27FC236}">
                <a16:creationId xmlns:a16="http://schemas.microsoft.com/office/drawing/2014/main" id="{917F55F5-1632-4D3C-B06E-7F04EAA59CD2}"/>
              </a:ext>
            </a:extLst>
          </p:cNvPr>
          <p:cNvSpPr>
            <a:spLocks noGrp="1"/>
          </p:cNvSpPr>
          <p:nvPr/>
        </p:nvSpPr>
        <p:spPr>
          <a:xfrm>
            <a:off x="11168500" y="4252606"/>
            <a:ext cx="2822079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7"/>
              </a:rPr>
              <a:t>Park, KoELECTRA, GitHub 2020</a:t>
            </a:r>
          </a:p>
        </p:txBody>
      </p:sp>
      <p:sp>
        <p:nvSpPr>
          <p:cNvPr id="19" name="html-text-18">
            <a:extLst>
              <a:ext uri="{FF2B5EF4-FFF2-40B4-BE49-F238E27FC236}">
                <a16:creationId xmlns:a16="http://schemas.microsoft.com/office/drawing/2014/main" id="{2D20D793-08DC-4307-B247-1893A4AC9952}"/>
              </a:ext>
            </a:extLst>
          </p:cNvPr>
          <p:cNvSpPr>
            <a:spLocks noGrp="1"/>
          </p:cNvSpPr>
          <p:nvPr/>
        </p:nvSpPr>
        <p:spPr>
          <a:xfrm>
            <a:off x="11168500" y="4715630"/>
            <a:ext cx="3315742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8"/>
              </a:rPr>
              <a:t>Hendrycks et al., CUAD, NeurIPS 2021</a:t>
            </a:r>
          </a:p>
        </p:txBody>
      </p:sp>
      <p:sp>
        <p:nvSpPr>
          <p:cNvPr id="21" name="html-text-20">
            <a:extLst>
              <a:ext uri="{FF2B5EF4-FFF2-40B4-BE49-F238E27FC236}">
                <a16:creationId xmlns:a16="http://schemas.microsoft.com/office/drawing/2014/main" id="{06ABCAA0-A450-4075-A137-041C2E9DBE49}"/>
              </a:ext>
            </a:extLst>
          </p:cNvPr>
          <p:cNvSpPr>
            <a:spLocks noGrp="1"/>
          </p:cNvSpPr>
          <p:nvPr/>
        </p:nvSpPr>
        <p:spPr>
          <a:xfrm>
            <a:off x="11179230" y="5177592"/>
            <a:ext cx="3078659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9"/>
              </a:rPr>
              <a:t>Thewsey, AWS 문서 추출 구현, 2021</a:t>
            </a:r>
          </a:p>
        </p:txBody>
      </p:sp>
      <p:sp>
        <p:nvSpPr>
          <p:cNvPr id="22" name="html-text-21">
            <a:extLst>
              <a:ext uri="{FF2B5EF4-FFF2-40B4-BE49-F238E27FC236}">
                <a16:creationId xmlns:a16="http://schemas.microsoft.com/office/drawing/2014/main" id="{62F9A9D4-AB54-4271-8908-E7883F5E2CD6}"/>
              </a:ext>
            </a:extLst>
          </p:cNvPr>
          <p:cNvSpPr>
            <a:spLocks noGrp="1"/>
          </p:cNvSpPr>
          <p:nvPr/>
        </p:nvSpPr>
        <p:spPr>
          <a:xfrm>
            <a:off x="11153333" y="5628968"/>
            <a:ext cx="1468338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800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800" b="1" i="0" spc="0" dirty="0" err="1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구현·평가</a:t>
            </a:r>
            <a:r>
              <a:rPr lang="ko-KR" sz="1800" b="1" i="0" spc="0" dirty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 문서</a:t>
            </a:r>
          </a:p>
        </p:txBody>
      </p:sp>
      <p:sp>
        <p:nvSpPr>
          <p:cNvPr id="24" name="html-text-23">
            <a:extLst>
              <a:ext uri="{FF2B5EF4-FFF2-40B4-BE49-F238E27FC236}">
                <a16:creationId xmlns:a16="http://schemas.microsoft.com/office/drawing/2014/main" id="{0EE7DBAF-39DF-4E93-839F-8E1FAC91AF7E}"/>
              </a:ext>
            </a:extLst>
          </p:cNvPr>
          <p:cNvSpPr>
            <a:spLocks noGrp="1"/>
          </p:cNvSpPr>
          <p:nvPr/>
        </p:nvSpPr>
        <p:spPr>
          <a:xfrm>
            <a:off x="11144945" y="6029548"/>
            <a:ext cx="3011984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 dirty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10"/>
              </a:rPr>
              <a:t>Transformers: Token classification</a:t>
            </a:r>
          </a:p>
        </p:txBody>
      </p:sp>
      <p:sp>
        <p:nvSpPr>
          <p:cNvPr id="26" name="html-text-25">
            <a:extLst>
              <a:ext uri="{FF2B5EF4-FFF2-40B4-BE49-F238E27FC236}">
                <a16:creationId xmlns:a16="http://schemas.microsoft.com/office/drawing/2014/main" id="{529E6189-4624-4C66-B5ED-B1D9FCD432C4}"/>
              </a:ext>
            </a:extLst>
          </p:cNvPr>
          <p:cNvSpPr>
            <a:spLocks noGrp="1"/>
          </p:cNvSpPr>
          <p:nvPr/>
        </p:nvSpPr>
        <p:spPr>
          <a:xfrm>
            <a:off x="11143826" y="6392028"/>
            <a:ext cx="2894558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575" b="0" i="0" spc="0">
                <a:solidFill>
                  <a:srgbClr val="636D83"/>
                </a:solidFill>
                <a:latin typeface="Apple SD Gothic Neo"/>
                <a:ea typeface="Apple SD Gothic Neo"/>
                <a:cs typeface="Apple SD Gothic Neo"/>
                <a:hlinkClick r:id="rId11"/>
              </a:rPr>
              <a:t>Nakayama, seqeval, GitHub 2018</a:t>
            </a:r>
          </a:p>
        </p:txBody>
      </p:sp>
      <p:sp>
        <p:nvSpPr>
          <p:cNvPr id="28" name="html-text-27">
            <a:extLst>
              <a:ext uri="{FF2B5EF4-FFF2-40B4-BE49-F238E27FC236}">
                <a16:creationId xmlns:a16="http://schemas.microsoft.com/office/drawing/2014/main" id="{52FA345A-5748-49D0-9F78-0E2BE4508D89}"/>
              </a:ext>
            </a:extLst>
          </p:cNvPr>
          <p:cNvSpPr>
            <a:spLocks noGrp="1"/>
          </p:cNvSpPr>
          <p:nvPr/>
        </p:nvSpPr>
        <p:spPr>
          <a:xfrm>
            <a:off x="14077206" y="8131969"/>
            <a:ext cx="629394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>
            <a:pPr algn="l">
              <a:lnSpc>
                <a:spcPct val="100000"/>
              </a:lnSpc>
              <a:buNone/>
              <a:def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sz="1125" b="1" i="0" spc="0">
                <a:solidFill>
                  <a:srgbClr val="011B9F"/>
                </a:solidFill>
                <a:latin typeface="Apple SD Gothic Neo"/>
                <a:ea typeface="Apple SD Gothic Neo"/>
                <a:cs typeface="Apple SD Gothic Neo"/>
              </a:rPr>
              <a:t>A6 / A6</a:t>
            </a:r>
          </a:p>
        </p:txBody>
      </p:sp>
    </p:spTree>
    <p:extLst>
      <p:ext uri="{BB962C8B-B14F-4D97-AF65-F5344CB8AC3E}">
        <p14:creationId xmlns:p14="http://schemas.microsoft.com/office/powerpoint/2010/main" val="19313751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1376</Words>
  <Application>Microsoft Macintosh PowerPoint</Application>
  <DocSecurity>0</DocSecurity>
  <PresentationFormat>사용자 지정</PresentationFormat>
  <Paragraphs>313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Apple SD Gothic Neo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손영원</cp:lastModifiedBy>
  <cp:revision>3</cp:revision>
  <dcterms:created xsi:type="dcterms:W3CDTF">2026-10-25T11:21:08Z</dcterms:created>
  <dcterms:modified xsi:type="dcterms:W3CDTF">2026-10-25T14:04:01Z</dcterms:modified>
</cp:coreProperties>
</file>